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66" r:id="rId2"/>
    <p:sldId id="267" r:id="rId3"/>
    <p:sldId id="268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B9CDE5"/>
    <a:srgbClr val="95B3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01" y="23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A634BA-DBE3-402A-B2FF-CE9439F81535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651894-FD59-4F1E-8A25-2249D547E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133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51894-FD59-4F1E-8A25-2249D547ED2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041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C292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C292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C292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C292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C292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C292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86986-F2EB-7C3E-0FD4-7C7FA0F53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5FBDC-A73C-0A62-48D3-524F0291EF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CA34A-8908-8B30-4B73-590AD89AD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6F934-D7B1-48B3-B648-71A6869B41E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8247F-9F4A-2243-EAFB-3F77EC086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3996A-F4F1-5DA6-0478-563FDB80E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305D-0D64-46B5-98A6-E435F19BD3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445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45230" y="6499652"/>
            <a:ext cx="1343756" cy="25485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8787" y="507568"/>
            <a:ext cx="10986820" cy="7447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C292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21351" y="3288538"/>
            <a:ext cx="5994400" cy="149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C292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18054B-FCC2-A7F0-DB31-FEBD4E8C7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8" cy="6858000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49D7C3F-19FA-A7D1-E3CC-903E8788DDA3}"/>
              </a:ext>
            </a:extLst>
          </p:cNvPr>
          <p:cNvSpPr/>
          <p:nvPr/>
        </p:nvSpPr>
        <p:spPr>
          <a:xfrm>
            <a:off x="0" y="1"/>
            <a:ext cx="12191999" cy="6857999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7954405" y="3944791"/>
                </a:moveTo>
                <a:lnTo>
                  <a:pt x="7976204" y="4055296"/>
                </a:lnTo>
                <a:lnTo>
                  <a:pt x="7932605" y="4055296"/>
                </a:lnTo>
                <a:close/>
                <a:moveTo>
                  <a:pt x="5290083" y="3886079"/>
                </a:moveTo>
                <a:lnTo>
                  <a:pt x="5317989" y="3886079"/>
                </a:lnTo>
                <a:cubicBezTo>
                  <a:pt x="5325132" y="3886079"/>
                  <a:pt x="5330565" y="3888497"/>
                  <a:pt x="5334286" y="3893334"/>
                </a:cubicBezTo>
                <a:cubicBezTo>
                  <a:pt x="5338006" y="3898171"/>
                  <a:pt x="5339866" y="3904980"/>
                  <a:pt x="5339866" y="3913761"/>
                </a:cubicBezTo>
                <a:lnTo>
                  <a:pt x="5339866" y="3951935"/>
                </a:lnTo>
                <a:cubicBezTo>
                  <a:pt x="5339866" y="3960269"/>
                  <a:pt x="5337932" y="3966781"/>
                  <a:pt x="5334062" y="3971469"/>
                </a:cubicBezTo>
                <a:cubicBezTo>
                  <a:pt x="5330193" y="3976157"/>
                  <a:pt x="5324835" y="3978501"/>
                  <a:pt x="5317989" y="3978501"/>
                </a:cubicBezTo>
                <a:lnTo>
                  <a:pt x="5290083" y="3978501"/>
                </a:lnTo>
                <a:close/>
                <a:moveTo>
                  <a:pt x="5679492" y="3885855"/>
                </a:moveTo>
                <a:lnTo>
                  <a:pt x="5708514" y="3885855"/>
                </a:lnTo>
                <a:cubicBezTo>
                  <a:pt x="5715807" y="3885855"/>
                  <a:pt x="5721462" y="3887939"/>
                  <a:pt x="5725480" y="3892106"/>
                </a:cubicBezTo>
                <a:cubicBezTo>
                  <a:pt x="5729498" y="3896273"/>
                  <a:pt x="5731508" y="3902078"/>
                  <a:pt x="5731508" y="3909519"/>
                </a:cubicBezTo>
                <a:lnTo>
                  <a:pt x="5731508" y="3945684"/>
                </a:lnTo>
                <a:cubicBezTo>
                  <a:pt x="5731508" y="3952382"/>
                  <a:pt x="5729498" y="3957628"/>
                  <a:pt x="5725480" y="3961423"/>
                </a:cubicBezTo>
                <a:cubicBezTo>
                  <a:pt x="5721462" y="3965218"/>
                  <a:pt x="5715807" y="3967116"/>
                  <a:pt x="5708514" y="3967116"/>
                </a:cubicBezTo>
                <a:lnTo>
                  <a:pt x="5679492" y="3967116"/>
                </a:lnTo>
                <a:close/>
                <a:moveTo>
                  <a:pt x="4612692" y="3885855"/>
                </a:moveTo>
                <a:lnTo>
                  <a:pt x="4641713" y="3885855"/>
                </a:lnTo>
                <a:cubicBezTo>
                  <a:pt x="4649006" y="3885855"/>
                  <a:pt x="4654662" y="3887939"/>
                  <a:pt x="4658680" y="3892106"/>
                </a:cubicBezTo>
                <a:cubicBezTo>
                  <a:pt x="4662698" y="3896273"/>
                  <a:pt x="4664707" y="3902078"/>
                  <a:pt x="4664707" y="3909519"/>
                </a:cubicBezTo>
                <a:lnTo>
                  <a:pt x="4664707" y="3945684"/>
                </a:lnTo>
                <a:cubicBezTo>
                  <a:pt x="4664707" y="3952382"/>
                  <a:pt x="4662698" y="3957628"/>
                  <a:pt x="4658680" y="3961423"/>
                </a:cubicBezTo>
                <a:cubicBezTo>
                  <a:pt x="4654662" y="3965218"/>
                  <a:pt x="4649006" y="3967116"/>
                  <a:pt x="4641713" y="3967116"/>
                </a:cubicBezTo>
                <a:lnTo>
                  <a:pt x="4612692" y="3967116"/>
                </a:lnTo>
                <a:close/>
                <a:moveTo>
                  <a:pt x="8975366" y="3884739"/>
                </a:moveTo>
                <a:cubicBezTo>
                  <a:pt x="8984146" y="3884739"/>
                  <a:pt x="8990843" y="3887195"/>
                  <a:pt x="8995457" y="3892106"/>
                </a:cubicBezTo>
                <a:cubicBezTo>
                  <a:pt x="9000071" y="3897017"/>
                  <a:pt x="9002378" y="3903864"/>
                  <a:pt x="9002378" y="3912644"/>
                </a:cubicBezTo>
                <a:lnTo>
                  <a:pt x="9002378" y="4077397"/>
                </a:lnTo>
                <a:cubicBezTo>
                  <a:pt x="9002378" y="4086476"/>
                  <a:pt x="9000034" y="4093433"/>
                  <a:pt x="8995346" y="4098270"/>
                </a:cubicBezTo>
                <a:cubicBezTo>
                  <a:pt x="8990658" y="4103107"/>
                  <a:pt x="8983998" y="4105526"/>
                  <a:pt x="8975366" y="4105526"/>
                </a:cubicBezTo>
                <a:cubicBezTo>
                  <a:pt x="8966882" y="4105526"/>
                  <a:pt x="8960296" y="4103107"/>
                  <a:pt x="8955608" y="4098270"/>
                </a:cubicBezTo>
                <a:cubicBezTo>
                  <a:pt x="8950920" y="4093433"/>
                  <a:pt x="8948576" y="4086476"/>
                  <a:pt x="8948576" y="4077397"/>
                </a:cubicBezTo>
                <a:lnTo>
                  <a:pt x="8948576" y="3912644"/>
                </a:lnTo>
                <a:cubicBezTo>
                  <a:pt x="8948576" y="3903864"/>
                  <a:pt x="8950920" y="3897017"/>
                  <a:pt x="8955608" y="3892106"/>
                </a:cubicBezTo>
                <a:cubicBezTo>
                  <a:pt x="8960296" y="3887195"/>
                  <a:pt x="8966882" y="3884739"/>
                  <a:pt x="8975366" y="3884739"/>
                </a:cubicBezTo>
                <a:close/>
                <a:moveTo>
                  <a:pt x="3869966" y="3884739"/>
                </a:moveTo>
                <a:cubicBezTo>
                  <a:pt x="3878746" y="3884739"/>
                  <a:pt x="3885444" y="3887195"/>
                  <a:pt x="3890058" y="3892106"/>
                </a:cubicBezTo>
                <a:cubicBezTo>
                  <a:pt x="3894671" y="3897017"/>
                  <a:pt x="3896978" y="3903864"/>
                  <a:pt x="3896978" y="3912644"/>
                </a:cubicBezTo>
                <a:lnTo>
                  <a:pt x="3896978" y="4077397"/>
                </a:lnTo>
                <a:cubicBezTo>
                  <a:pt x="3896978" y="4086476"/>
                  <a:pt x="3894634" y="4093433"/>
                  <a:pt x="3889946" y="4098270"/>
                </a:cubicBezTo>
                <a:cubicBezTo>
                  <a:pt x="3885258" y="4103107"/>
                  <a:pt x="3878597" y="4105526"/>
                  <a:pt x="3869966" y="4105526"/>
                </a:cubicBezTo>
                <a:cubicBezTo>
                  <a:pt x="3861482" y="4105526"/>
                  <a:pt x="3854897" y="4103107"/>
                  <a:pt x="3850209" y="4098270"/>
                </a:cubicBezTo>
                <a:cubicBezTo>
                  <a:pt x="3845520" y="4093433"/>
                  <a:pt x="3843176" y="4086476"/>
                  <a:pt x="3843176" y="4077397"/>
                </a:cubicBezTo>
                <a:lnTo>
                  <a:pt x="3843176" y="3912644"/>
                </a:lnTo>
                <a:cubicBezTo>
                  <a:pt x="3843176" y="3903864"/>
                  <a:pt x="3845520" y="3897017"/>
                  <a:pt x="3850209" y="3892106"/>
                </a:cubicBezTo>
                <a:cubicBezTo>
                  <a:pt x="3854897" y="3887195"/>
                  <a:pt x="3861482" y="3884739"/>
                  <a:pt x="3869966" y="3884739"/>
                </a:cubicBezTo>
                <a:close/>
                <a:moveTo>
                  <a:pt x="3193691" y="3884739"/>
                </a:moveTo>
                <a:cubicBezTo>
                  <a:pt x="3202471" y="3884739"/>
                  <a:pt x="3209169" y="3887195"/>
                  <a:pt x="3213782" y="3892106"/>
                </a:cubicBezTo>
                <a:cubicBezTo>
                  <a:pt x="3218396" y="3897017"/>
                  <a:pt x="3220703" y="3903864"/>
                  <a:pt x="3220703" y="3912644"/>
                </a:cubicBezTo>
                <a:lnTo>
                  <a:pt x="3220703" y="4077397"/>
                </a:lnTo>
                <a:cubicBezTo>
                  <a:pt x="3220703" y="4086476"/>
                  <a:pt x="3218359" y="4093433"/>
                  <a:pt x="3213671" y="4098270"/>
                </a:cubicBezTo>
                <a:cubicBezTo>
                  <a:pt x="3208983" y="4103107"/>
                  <a:pt x="3202323" y="4105526"/>
                  <a:pt x="3193691" y="4105526"/>
                </a:cubicBezTo>
                <a:cubicBezTo>
                  <a:pt x="3185207" y="4105526"/>
                  <a:pt x="3178622" y="4103107"/>
                  <a:pt x="3173934" y="4098270"/>
                </a:cubicBezTo>
                <a:cubicBezTo>
                  <a:pt x="3169246" y="4093433"/>
                  <a:pt x="3166901" y="4086476"/>
                  <a:pt x="3166901" y="4077397"/>
                </a:cubicBezTo>
                <a:lnTo>
                  <a:pt x="3166901" y="3912644"/>
                </a:lnTo>
                <a:cubicBezTo>
                  <a:pt x="3166901" y="3903864"/>
                  <a:pt x="3169246" y="3897017"/>
                  <a:pt x="3173934" y="3892106"/>
                </a:cubicBezTo>
                <a:cubicBezTo>
                  <a:pt x="3178622" y="3887195"/>
                  <a:pt x="3185207" y="3884739"/>
                  <a:pt x="3193691" y="3884739"/>
                </a:cubicBezTo>
                <a:close/>
                <a:moveTo>
                  <a:pt x="9282844" y="3832947"/>
                </a:moveTo>
                <a:lnTo>
                  <a:pt x="9282844" y="4157318"/>
                </a:lnTo>
                <a:lnTo>
                  <a:pt x="9333520" y="4157318"/>
                </a:lnTo>
                <a:lnTo>
                  <a:pt x="9333520" y="3968764"/>
                </a:lnTo>
                <a:lnTo>
                  <a:pt x="9403172" y="4157318"/>
                </a:lnTo>
                <a:lnTo>
                  <a:pt x="9447151" y="4157318"/>
                </a:lnTo>
                <a:lnTo>
                  <a:pt x="9447151" y="3832947"/>
                </a:lnTo>
                <a:lnTo>
                  <a:pt x="9396698" y="3832947"/>
                </a:lnTo>
                <a:lnTo>
                  <a:pt x="9396698" y="4032602"/>
                </a:lnTo>
                <a:lnTo>
                  <a:pt x="9326377" y="3832947"/>
                </a:lnTo>
                <a:close/>
                <a:moveTo>
                  <a:pt x="8611630" y="3832947"/>
                </a:moveTo>
                <a:lnTo>
                  <a:pt x="8611630" y="4157541"/>
                </a:lnTo>
                <a:lnTo>
                  <a:pt x="8666994" y="4157541"/>
                </a:lnTo>
                <a:lnTo>
                  <a:pt x="8666994" y="3832947"/>
                </a:lnTo>
                <a:close/>
                <a:moveTo>
                  <a:pt x="8241345" y="3832947"/>
                </a:moveTo>
                <a:lnTo>
                  <a:pt x="8241345" y="3886079"/>
                </a:lnTo>
                <a:lnTo>
                  <a:pt x="8294923" y="3886079"/>
                </a:lnTo>
                <a:lnTo>
                  <a:pt x="8294923" y="4157541"/>
                </a:lnTo>
                <a:lnTo>
                  <a:pt x="8350288" y="4157541"/>
                </a:lnTo>
                <a:lnTo>
                  <a:pt x="8350288" y="3886079"/>
                </a:lnTo>
                <a:lnTo>
                  <a:pt x="8403866" y="3886079"/>
                </a:lnTo>
                <a:lnTo>
                  <a:pt x="8403866" y="3832947"/>
                </a:lnTo>
                <a:close/>
                <a:moveTo>
                  <a:pt x="7934983" y="3832947"/>
                </a:moveTo>
                <a:lnTo>
                  <a:pt x="7857518" y="4157541"/>
                </a:lnTo>
                <a:lnTo>
                  <a:pt x="7912435" y="4157541"/>
                </a:lnTo>
                <a:lnTo>
                  <a:pt x="7922388" y="4107088"/>
                </a:lnTo>
                <a:lnTo>
                  <a:pt x="7986421" y="4107088"/>
                </a:lnTo>
                <a:lnTo>
                  <a:pt x="7996374" y="4157541"/>
                </a:lnTo>
                <a:lnTo>
                  <a:pt x="8051292" y="4157541"/>
                </a:lnTo>
                <a:lnTo>
                  <a:pt x="7973827" y="3832947"/>
                </a:lnTo>
                <a:close/>
                <a:moveTo>
                  <a:pt x="7517445" y="3832947"/>
                </a:moveTo>
                <a:lnTo>
                  <a:pt x="7517445" y="3886079"/>
                </a:lnTo>
                <a:lnTo>
                  <a:pt x="7571023" y="3886079"/>
                </a:lnTo>
                <a:lnTo>
                  <a:pt x="7571023" y="4157541"/>
                </a:lnTo>
                <a:lnTo>
                  <a:pt x="7626388" y="4157541"/>
                </a:lnTo>
                <a:lnTo>
                  <a:pt x="7626388" y="3886079"/>
                </a:lnTo>
                <a:lnTo>
                  <a:pt x="7679966" y="3886079"/>
                </a:lnTo>
                <a:lnTo>
                  <a:pt x="7679966" y="3832947"/>
                </a:lnTo>
                <a:close/>
                <a:moveTo>
                  <a:pt x="7130195" y="3832947"/>
                </a:moveTo>
                <a:lnTo>
                  <a:pt x="7130195" y="4157318"/>
                </a:lnTo>
                <a:lnTo>
                  <a:pt x="7180871" y="4157318"/>
                </a:lnTo>
                <a:lnTo>
                  <a:pt x="7180871" y="3968764"/>
                </a:lnTo>
                <a:lnTo>
                  <a:pt x="7250522" y="4157318"/>
                </a:lnTo>
                <a:lnTo>
                  <a:pt x="7294501" y="4157318"/>
                </a:lnTo>
                <a:lnTo>
                  <a:pt x="7294501" y="3832947"/>
                </a:lnTo>
                <a:lnTo>
                  <a:pt x="7244048" y="3832947"/>
                </a:lnTo>
                <a:lnTo>
                  <a:pt x="7244048" y="4032602"/>
                </a:lnTo>
                <a:lnTo>
                  <a:pt x="7173727" y="3832947"/>
                </a:lnTo>
                <a:close/>
                <a:moveTo>
                  <a:pt x="6768245" y="3832947"/>
                </a:moveTo>
                <a:lnTo>
                  <a:pt x="6768245" y="4157541"/>
                </a:lnTo>
                <a:lnTo>
                  <a:pt x="6792801" y="4157541"/>
                </a:lnTo>
                <a:lnTo>
                  <a:pt x="6823609" y="4157541"/>
                </a:lnTo>
                <a:lnTo>
                  <a:pt x="6912459" y="4157541"/>
                </a:lnTo>
                <a:lnTo>
                  <a:pt x="6912459" y="4103517"/>
                </a:lnTo>
                <a:lnTo>
                  <a:pt x="6823609" y="4103517"/>
                </a:lnTo>
                <a:lnTo>
                  <a:pt x="6823609" y="4023149"/>
                </a:lnTo>
                <a:lnTo>
                  <a:pt x="6901297" y="4023149"/>
                </a:lnTo>
                <a:lnTo>
                  <a:pt x="6901297" y="3969348"/>
                </a:lnTo>
                <a:lnTo>
                  <a:pt x="6823609" y="3969348"/>
                </a:lnTo>
                <a:lnTo>
                  <a:pt x="6823609" y="3886972"/>
                </a:lnTo>
                <a:lnTo>
                  <a:pt x="6912459" y="3886972"/>
                </a:lnTo>
                <a:lnTo>
                  <a:pt x="6912459" y="3832947"/>
                </a:lnTo>
                <a:lnTo>
                  <a:pt x="6823609" y="3832947"/>
                </a:lnTo>
                <a:lnTo>
                  <a:pt x="6792801" y="3832947"/>
                </a:lnTo>
                <a:close/>
                <a:moveTo>
                  <a:pt x="6015770" y="3832947"/>
                </a:moveTo>
                <a:lnTo>
                  <a:pt x="6015770" y="4157541"/>
                </a:lnTo>
                <a:lnTo>
                  <a:pt x="6040326" y="4157541"/>
                </a:lnTo>
                <a:lnTo>
                  <a:pt x="6071134" y="4157541"/>
                </a:lnTo>
                <a:lnTo>
                  <a:pt x="6159984" y="4157541"/>
                </a:lnTo>
                <a:lnTo>
                  <a:pt x="6159984" y="4103517"/>
                </a:lnTo>
                <a:lnTo>
                  <a:pt x="6071134" y="4103517"/>
                </a:lnTo>
                <a:lnTo>
                  <a:pt x="6071134" y="4023149"/>
                </a:lnTo>
                <a:lnTo>
                  <a:pt x="6148822" y="4023149"/>
                </a:lnTo>
                <a:lnTo>
                  <a:pt x="6148822" y="3969348"/>
                </a:lnTo>
                <a:lnTo>
                  <a:pt x="6071134" y="3969348"/>
                </a:lnTo>
                <a:lnTo>
                  <a:pt x="6071134" y="3886972"/>
                </a:lnTo>
                <a:lnTo>
                  <a:pt x="6159984" y="3886972"/>
                </a:lnTo>
                <a:lnTo>
                  <a:pt x="6159984" y="3832947"/>
                </a:lnTo>
                <a:lnTo>
                  <a:pt x="6071134" y="3832947"/>
                </a:lnTo>
                <a:lnTo>
                  <a:pt x="6040326" y="3832947"/>
                </a:lnTo>
                <a:close/>
                <a:moveTo>
                  <a:pt x="5234719" y="3832947"/>
                </a:moveTo>
                <a:lnTo>
                  <a:pt x="5234719" y="4157541"/>
                </a:lnTo>
                <a:lnTo>
                  <a:pt x="5290083" y="4157541"/>
                </a:lnTo>
                <a:lnTo>
                  <a:pt x="5290083" y="4031633"/>
                </a:lnTo>
                <a:lnTo>
                  <a:pt x="5319551" y="4031633"/>
                </a:lnTo>
                <a:cubicBezTo>
                  <a:pt x="5335625" y="4031633"/>
                  <a:pt x="5349317" y="4028842"/>
                  <a:pt x="5360628" y="4023261"/>
                </a:cubicBezTo>
                <a:cubicBezTo>
                  <a:pt x="5371939" y="4017680"/>
                  <a:pt x="5380646" y="4009569"/>
                  <a:pt x="5386747" y="3998928"/>
                </a:cubicBezTo>
                <a:cubicBezTo>
                  <a:pt x="5392850" y="3988286"/>
                  <a:pt x="5395900" y="3975450"/>
                  <a:pt x="5395900" y="3960418"/>
                </a:cubicBezTo>
                <a:lnTo>
                  <a:pt x="5395900" y="3905724"/>
                </a:lnTo>
                <a:cubicBezTo>
                  <a:pt x="5395900" y="3890246"/>
                  <a:pt x="5392886" y="3877075"/>
                  <a:pt x="5386859" y="3866210"/>
                </a:cubicBezTo>
                <a:cubicBezTo>
                  <a:pt x="5380831" y="3855346"/>
                  <a:pt x="5372125" y="3847086"/>
                  <a:pt x="5360739" y="3841430"/>
                </a:cubicBezTo>
                <a:cubicBezTo>
                  <a:pt x="5349354" y="3835775"/>
                  <a:pt x="5335625" y="3832947"/>
                  <a:pt x="5319551" y="3832947"/>
                </a:cubicBezTo>
                <a:lnTo>
                  <a:pt x="5290083" y="3832947"/>
                </a:lnTo>
                <a:lnTo>
                  <a:pt x="5260615" y="3832947"/>
                </a:lnTo>
                <a:close/>
                <a:moveTo>
                  <a:pt x="4183398" y="3832947"/>
                </a:moveTo>
                <a:lnTo>
                  <a:pt x="4183398" y="4078960"/>
                </a:lnTo>
                <a:cubicBezTo>
                  <a:pt x="4183398" y="4104856"/>
                  <a:pt x="4190281" y="4124985"/>
                  <a:pt x="4204047" y="4139347"/>
                </a:cubicBezTo>
                <a:cubicBezTo>
                  <a:pt x="4217815" y="4153709"/>
                  <a:pt x="4236752" y="4160890"/>
                  <a:pt x="4260862" y="4160890"/>
                </a:cubicBezTo>
                <a:cubicBezTo>
                  <a:pt x="4285121" y="4160890"/>
                  <a:pt x="4304172" y="4153709"/>
                  <a:pt x="4318012" y="4139347"/>
                </a:cubicBezTo>
                <a:cubicBezTo>
                  <a:pt x="4331854" y="4124985"/>
                  <a:pt x="4338774" y="4104856"/>
                  <a:pt x="4338774" y="4078960"/>
                </a:cubicBezTo>
                <a:lnTo>
                  <a:pt x="4338774" y="3832947"/>
                </a:lnTo>
                <a:lnTo>
                  <a:pt x="4283187" y="3832947"/>
                </a:lnTo>
                <a:lnTo>
                  <a:pt x="4283187" y="4080523"/>
                </a:lnTo>
                <a:cubicBezTo>
                  <a:pt x="4283187" y="4088410"/>
                  <a:pt x="4281215" y="4094550"/>
                  <a:pt x="4277271" y="4098940"/>
                </a:cubicBezTo>
                <a:cubicBezTo>
                  <a:pt x="4273327" y="4103330"/>
                  <a:pt x="4267857" y="4105526"/>
                  <a:pt x="4260862" y="4105526"/>
                </a:cubicBezTo>
                <a:cubicBezTo>
                  <a:pt x="4253867" y="4105526"/>
                  <a:pt x="4248472" y="4103330"/>
                  <a:pt x="4244678" y="4098940"/>
                </a:cubicBezTo>
                <a:cubicBezTo>
                  <a:pt x="4240883" y="4094550"/>
                  <a:pt x="4238985" y="4088410"/>
                  <a:pt x="4238985" y="4080523"/>
                </a:cubicBezTo>
                <a:lnTo>
                  <a:pt x="4238985" y="3832947"/>
                </a:lnTo>
                <a:close/>
                <a:moveTo>
                  <a:pt x="2735895" y="3832947"/>
                </a:moveTo>
                <a:lnTo>
                  <a:pt x="2735895" y="3886079"/>
                </a:lnTo>
                <a:lnTo>
                  <a:pt x="2789473" y="3886079"/>
                </a:lnTo>
                <a:lnTo>
                  <a:pt x="2789473" y="4157541"/>
                </a:lnTo>
                <a:lnTo>
                  <a:pt x="2844837" y="4157541"/>
                </a:lnTo>
                <a:lnTo>
                  <a:pt x="2844837" y="3886079"/>
                </a:lnTo>
                <a:lnTo>
                  <a:pt x="2898415" y="3886079"/>
                </a:lnTo>
                <a:lnTo>
                  <a:pt x="2898415" y="3832947"/>
                </a:lnTo>
                <a:close/>
                <a:moveTo>
                  <a:pt x="5625244" y="3832724"/>
                </a:moveTo>
                <a:lnTo>
                  <a:pt x="5625244" y="4157541"/>
                </a:lnTo>
                <a:lnTo>
                  <a:pt x="5679492" y="4157541"/>
                </a:lnTo>
                <a:lnTo>
                  <a:pt x="5679492" y="4020247"/>
                </a:lnTo>
                <a:lnTo>
                  <a:pt x="5698057" y="4020247"/>
                </a:lnTo>
                <a:lnTo>
                  <a:pt x="5738205" y="4157541"/>
                </a:lnTo>
                <a:lnTo>
                  <a:pt x="5797588" y="4157541"/>
                </a:lnTo>
                <a:lnTo>
                  <a:pt x="5749596" y="4011498"/>
                </a:lnTo>
                <a:lnTo>
                  <a:pt x="5750149" y="4011318"/>
                </a:lnTo>
                <a:cubicBezTo>
                  <a:pt x="5762576" y="4005364"/>
                  <a:pt x="5772064" y="3996732"/>
                  <a:pt x="5778612" y="3985421"/>
                </a:cubicBezTo>
                <a:cubicBezTo>
                  <a:pt x="5785160" y="3974110"/>
                  <a:pt x="5788435" y="3960418"/>
                  <a:pt x="5788435" y="3944345"/>
                </a:cubicBezTo>
                <a:lnTo>
                  <a:pt x="5788435" y="3906394"/>
                </a:lnTo>
                <a:cubicBezTo>
                  <a:pt x="5788435" y="3890767"/>
                  <a:pt x="5785160" y="3877447"/>
                  <a:pt x="5778612" y="3866433"/>
                </a:cubicBezTo>
                <a:cubicBezTo>
                  <a:pt x="5772064" y="3855420"/>
                  <a:pt x="5762576" y="3847048"/>
                  <a:pt x="5750149" y="3841319"/>
                </a:cubicBezTo>
                <a:cubicBezTo>
                  <a:pt x="5737721" y="3835589"/>
                  <a:pt x="5722727" y="3832724"/>
                  <a:pt x="5705165" y="3832724"/>
                </a:cubicBezTo>
                <a:lnTo>
                  <a:pt x="5679492" y="3832724"/>
                </a:lnTo>
                <a:lnTo>
                  <a:pt x="5650024" y="3832724"/>
                </a:lnTo>
                <a:close/>
                <a:moveTo>
                  <a:pt x="4558444" y="3832724"/>
                </a:moveTo>
                <a:lnTo>
                  <a:pt x="4558444" y="4157541"/>
                </a:lnTo>
                <a:lnTo>
                  <a:pt x="4612692" y="4157541"/>
                </a:lnTo>
                <a:lnTo>
                  <a:pt x="4612692" y="4020247"/>
                </a:lnTo>
                <a:lnTo>
                  <a:pt x="4631257" y="4020247"/>
                </a:lnTo>
                <a:lnTo>
                  <a:pt x="4671405" y="4157541"/>
                </a:lnTo>
                <a:lnTo>
                  <a:pt x="4730788" y="4157541"/>
                </a:lnTo>
                <a:lnTo>
                  <a:pt x="4682796" y="4011498"/>
                </a:lnTo>
                <a:lnTo>
                  <a:pt x="4683348" y="4011318"/>
                </a:lnTo>
                <a:cubicBezTo>
                  <a:pt x="4695775" y="4005364"/>
                  <a:pt x="4705263" y="3996732"/>
                  <a:pt x="4711812" y="3985421"/>
                </a:cubicBezTo>
                <a:cubicBezTo>
                  <a:pt x="4718360" y="3974110"/>
                  <a:pt x="4721634" y="3960418"/>
                  <a:pt x="4721634" y="3944345"/>
                </a:cubicBezTo>
                <a:lnTo>
                  <a:pt x="4721634" y="3906394"/>
                </a:lnTo>
                <a:cubicBezTo>
                  <a:pt x="4721634" y="3890767"/>
                  <a:pt x="4718360" y="3877447"/>
                  <a:pt x="4711812" y="3866433"/>
                </a:cubicBezTo>
                <a:cubicBezTo>
                  <a:pt x="4705263" y="3855420"/>
                  <a:pt x="4695775" y="3847048"/>
                  <a:pt x="4683348" y="3841319"/>
                </a:cubicBezTo>
                <a:cubicBezTo>
                  <a:pt x="4670921" y="3835589"/>
                  <a:pt x="4655927" y="3832724"/>
                  <a:pt x="4638365" y="3832724"/>
                </a:cubicBezTo>
                <a:lnTo>
                  <a:pt x="4612692" y="3832724"/>
                </a:lnTo>
                <a:lnTo>
                  <a:pt x="4583224" y="3832724"/>
                </a:lnTo>
                <a:close/>
                <a:moveTo>
                  <a:pt x="8975366" y="3829598"/>
                </a:moveTo>
                <a:cubicBezTo>
                  <a:pt x="8957952" y="3829598"/>
                  <a:pt x="8943032" y="3832575"/>
                  <a:pt x="8930606" y="3838528"/>
                </a:cubicBezTo>
                <a:cubicBezTo>
                  <a:pt x="8918178" y="3844481"/>
                  <a:pt x="8908690" y="3853150"/>
                  <a:pt x="8902142" y="3864536"/>
                </a:cubicBezTo>
                <a:cubicBezTo>
                  <a:pt x="8895594" y="3875921"/>
                  <a:pt x="8892320" y="3889725"/>
                  <a:pt x="8892320" y="3905947"/>
                </a:cubicBezTo>
                <a:lnTo>
                  <a:pt x="8892320" y="4084541"/>
                </a:lnTo>
                <a:cubicBezTo>
                  <a:pt x="8892320" y="4100614"/>
                  <a:pt x="8895594" y="4114344"/>
                  <a:pt x="8902142" y="4125729"/>
                </a:cubicBezTo>
                <a:cubicBezTo>
                  <a:pt x="8908690" y="4137114"/>
                  <a:pt x="8918178" y="4145821"/>
                  <a:pt x="8930606" y="4151848"/>
                </a:cubicBezTo>
                <a:cubicBezTo>
                  <a:pt x="8943032" y="4157876"/>
                  <a:pt x="8957952" y="4160890"/>
                  <a:pt x="8975366" y="4160890"/>
                </a:cubicBezTo>
                <a:cubicBezTo>
                  <a:pt x="8992778" y="4160890"/>
                  <a:pt x="9007698" y="4157876"/>
                  <a:pt x="9020126" y="4151848"/>
                </a:cubicBezTo>
                <a:cubicBezTo>
                  <a:pt x="9032552" y="4145821"/>
                  <a:pt x="9042040" y="4137114"/>
                  <a:pt x="9048589" y="4125729"/>
                </a:cubicBezTo>
                <a:cubicBezTo>
                  <a:pt x="9055136" y="4114344"/>
                  <a:pt x="9058412" y="4100614"/>
                  <a:pt x="9058412" y="4084541"/>
                </a:cubicBezTo>
                <a:lnTo>
                  <a:pt x="9058412" y="3905947"/>
                </a:lnTo>
                <a:cubicBezTo>
                  <a:pt x="9058412" y="3889725"/>
                  <a:pt x="9055136" y="3875921"/>
                  <a:pt x="9048589" y="3864536"/>
                </a:cubicBezTo>
                <a:cubicBezTo>
                  <a:pt x="9042040" y="3853150"/>
                  <a:pt x="9032552" y="3844481"/>
                  <a:pt x="9020126" y="3838528"/>
                </a:cubicBezTo>
                <a:cubicBezTo>
                  <a:pt x="9007698" y="3832575"/>
                  <a:pt x="8992778" y="3829598"/>
                  <a:pt x="8975366" y="3829598"/>
                </a:cubicBezTo>
                <a:close/>
                <a:moveTo>
                  <a:pt x="6454068" y="3829598"/>
                </a:moveTo>
                <a:cubicBezTo>
                  <a:pt x="6428470" y="3829598"/>
                  <a:pt x="6408639" y="3836519"/>
                  <a:pt x="6394574" y="3850360"/>
                </a:cubicBezTo>
                <a:cubicBezTo>
                  <a:pt x="6380510" y="3864201"/>
                  <a:pt x="6373478" y="3883623"/>
                  <a:pt x="6373478" y="3908626"/>
                </a:cubicBezTo>
                <a:lnTo>
                  <a:pt x="6373478" y="3925369"/>
                </a:lnTo>
                <a:cubicBezTo>
                  <a:pt x="6373478" y="3938615"/>
                  <a:pt x="6375376" y="3949926"/>
                  <a:pt x="6379171" y="3959302"/>
                </a:cubicBezTo>
                <a:cubicBezTo>
                  <a:pt x="6382966" y="3968678"/>
                  <a:pt x="6387952" y="3976603"/>
                  <a:pt x="6394128" y="3983077"/>
                </a:cubicBezTo>
                <a:cubicBezTo>
                  <a:pt x="6400304" y="3989551"/>
                  <a:pt x="6407150" y="3995095"/>
                  <a:pt x="6414666" y="3999709"/>
                </a:cubicBezTo>
                <a:cubicBezTo>
                  <a:pt x="6422182" y="4004323"/>
                  <a:pt x="6429586" y="4008490"/>
                  <a:pt x="6436879" y="4012210"/>
                </a:cubicBezTo>
                <a:cubicBezTo>
                  <a:pt x="6444469" y="4015931"/>
                  <a:pt x="6451538" y="4019615"/>
                  <a:pt x="6458087" y="4023261"/>
                </a:cubicBezTo>
                <a:cubicBezTo>
                  <a:pt x="6464635" y="4026907"/>
                  <a:pt x="6469881" y="4031000"/>
                  <a:pt x="6473825" y="4035539"/>
                </a:cubicBezTo>
                <a:cubicBezTo>
                  <a:pt x="6477769" y="4040079"/>
                  <a:pt x="6479741" y="4045697"/>
                  <a:pt x="6479741" y="4052394"/>
                </a:cubicBezTo>
                <a:lnTo>
                  <a:pt x="6479741" y="4080746"/>
                </a:lnTo>
                <a:cubicBezTo>
                  <a:pt x="6479741" y="4088783"/>
                  <a:pt x="6477546" y="4095108"/>
                  <a:pt x="6473156" y="4099721"/>
                </a:cubicBezTo>
                <a:cubicBezTo>
                  <a:pt x="6468765" y="4104335"/>
                  <a:pt x="6462552" y="4106642"/>
                  <a:pt x="6454515" y="4106642"/>
                </a:cubicBezTo>
                <a:cubicBezTo>
                  <a:pt x="6446329" y="4106642"/>
                  <a:pt x="6439930" y="4104298"/>
                  <a:pt x="6435316" y="4099610"/>
                </a:cubicBezTo>
                <a:cubicBezTo>
                  <a:pt x="6430702" y="4094922"/>
                  <a:pt x="6428396" y="4088485"/>
                  <a:pt x="6428396" y="4080299"/>
                </a:cubicBezTo>
                <a:lnTo>
                  <a:pt x="6428396" y="4062886"/>
                </a:lnTo>
                <a:lnTo>
                  <a:pt x="6373255" y="4063333"/>
                </a:lnTo>
                <a:lnTo>
                  <a:pt x="6373255" y="4080746"/>
                </a:lnTo>
                <a:cubicBezTo>
                  <a:pt x="6373255" y="4097712"/>
                  <a:pt x="6376492" y="4112149"/>
                  <a:pt x="6382966" y="4124055"/>
                </a:cubicBezTo>
                <a:cubicBezTo>
                  <a:pt x="6389440" y="4135961"/>
                  <a:pt x="6398742" y="4145077"/>
                  <a:pt x="6410871" y="4151402"/>
                </a:cubicBezTo>
                <a:cubicBezTo>
                  <a:pt x="6423001" y="4157727"/>
                  <a:pt x="6437623" y="4160890"/>
                  <a:pt x="6454738" y="4160890"/>
                </a:cubicBezTo>
                <a:cubicBezTo>
                  <a:pt x="6480188" y="4160890"/>
                  <a:pt x="6499945" y="4153858"/>
                  <a:pt x="6514009" y="4139793"/>
                </a:cubicBezTo>
                <a:cubicBezTo>
                  <a:pt x="6528073" y="4125729"/>
                  <a:pt x="6535105" y="4106047"/>
                  <a:pt x="6535105" y="4080746"/>
                </a:cubicBezTo>
                <a:lnTo>
                  <a:pt x="6535105" y="4053734"/>
                </a:lnTo>
                <a:cubicBezTo>
                  <a:pt x="6535105" y="4040785"/>
                  <a:pt x="6533357" y="4029921"/>
                  <a:pt x="6529859" y="4021140"/>
                </a:cubicBezTo>
                <a:cubicBezTo>
                  <a:pt x="6526362" y="4012359"/>
                  <a:pt x="6521748" y="4004992"/>
                  <a:pt x="6516018" y="3999039"/>
                </a:cubicBezTo>
                <a:cubicBezTo>
                  <a:pt x="6510288" y="3993086"/>
                  <a:pt x="6503963" y="3988026"/>
                  <a:pt x="6497043" y="3983859"/>
                </a:cubicBezTo>
                <a:cubicBezTo>
                  <a:pt x="6490122" y="3979692"/>
                  <a:pt x="6483164" y="3975822"/>
                  <a:pt x="6476169" y="3972250"/>
                </a:cubicBezTo>
                <a:cubicBezTo>
                  <a:pt x="6468133" y="3967934"/>
                  <a:pt x="6460505" y="3963953"/>
                  <a:pt x="6453287" y="3960307"/>
                </a:cubicBezTo>
                <a:cubicBezTo>
                  <a:pt x="6446069" y="3956660"/>
                  <a:pt x="6440190" y="3952419"/>
                  <a:pt x="6435651" y="3947582"/>
                </a:cubicBezTo>
                <a:cubicBezTo>
                  <a:pt x="6431112" y="3942745"/>
                  <a:pt x="6428842" y="3936531"/>
                  <a:pt x="6428842" y="3928941"/>
                </a:cubicBezTo>
                <a:lnTo>
                  <a:pt x="6428842" y="3907287"/>
                </a:lnTo>
                <a:cubicBezTo>
                  <a:pt x="6428842" y="3899845"/>
                  <a:pt x="6431037" y="3894004"/>
                  <a:pt x="6435428" y="3889762"/>
                </a:cubicBezTo>
                <a:cubicBezTo>
                  <a:pt x="6439818" y="3885521"/>
                  <a:pt x="6446032" y="3883400"/>
                  <a:pt x="6454068" y="3883400"/>
                </a:cubicBezTo>
                <a:cubicBezTo>
                  <a:pt x="6461659" y="3883400"/>
                  <a:pt x="6467575" y="3885744"/>
                  <a:pt x="6471816" y="3890432"/>
                </a:cubicBezTo>
                <a:cubicBezTo>
                  <a:pt x="6476058" y="3895120"/>
                  <a:pt x="6478179" y="3901631"/>
                  <a:pt x="6478179" y="3909966"/>
                </a:cubicBezTo>
                <a:lnTo>
                  <a:pt x="6478179" y="3928495"/>
                </a:lnTo>
                <a:lnTo>
                  <a:pt x="6533319" y="3927825"/>
                </a:lnTo>
                <a:lnTo>
                  <a:pt x="6533319" y="3909519"/>
                </a:lnTo>
                <a:cubicBezTo>
                  <a:pt x="6533319" y="3884218"/>
                  <a:pt x="6526324" y="3864573"/>
                  <a:pt x="6512335" y="3850583"/>
                </a:cubicBezTo>
                <a:cubicBezTo>
                  <a:pt x="6498345" y="3836593"/>
                  <a:pt x="6478923" y="3829598"/>
                  <a:pt x="6454068" y="3829598"/>
                </a:cubicBezTo>
                <a:close/>
                <a:moveTo>
                  <a:pt x="3869966" y="3829598"/>
                </a:moveTo>
                <a:cubicBezTo>
                  <a:pt x="3852553" y="3829598"/>
                  <a:pt x="3837633" y="3832575"/>
                  <a:pt x="3825205" y="3838528"/>
                </a:cubicBezTo>
                <a:cubicBezTo>
                  <a:pt x="3812778" y="3844481"/>
                  <a:pt x="3803291" y="3853150"/>
                  <a:pt x="3796742" y="3864536"/>
                </a:cubicBezTo>
                <a:cubicBezTo>
                  <a:pt x="3790194" y="3875921"/>
                  <a:pt x="3786919" y="3889725"/>
                  <a:pt x="3786919" y="3905947"/>
                </a:cubicBezTo>
                <a:lnTo>
                  <a:pt x="3786919" y="4084541"/>
                </a:lnTo>
                <a:cubicBezTo>
                  <a:pt x="3786919" y="4100614"/>
                  <a:pt x="3790194" y="4114344"/>
                  <a:pt x="3796742" y="4125729"/>
                </a:cubicBezTo>
                <a:cubicBezTo>
                  <a:pt x="3803291" y="4137114"/>
                  <a:pt x="3812778" y="4145821"/>
                  <a:pt x="3825205" y="4151848"/>
                </a:cubicBezTo>
                <a:cubicBezTo>
                  <a:pt x="3837633" y="4157876"/>
                  <a:pt x="3852553" y="4160890"/>
                  <a:pt x="3869966" y="4160890"/>
                </a:cubicBezTo>
                <a:cubicBezTo>
                  <a:pt x="3887378" y="4160890"/>
                  <a:pt x="3902298" y="4157876"/>
                  <a:pt x="3914726" y="4151848"/>
                </a:cubicBezTo>
                <a:cubicBezTo>
                  <a:pt x="3927152" y="4145821"/>
                  <a:pt x="3936641" y="4137114"/>
                  <a:pt x="3943189" y="4125729"/>
                </a:cubicBezTo>
                <a:cubicBezTo>
                  <a:pt x="3949737" y="4114344"/>
                  <a:pt x="3953012" y="4100614"/>
                  <a:pt x="3953012" y="4084541"/>
                </a:cubicBezTo>
                <a:lnTo>
                  <a:pt x="3953012" y="3905947"/>
                </a:lnTo>
                <a:cubicBezTo>
                  <a:pt x="3953012" y="3889725"/>
                  <a:pt x="3949737" y="3875921"/>
                  <a:pt x="3943189" y="3864536"/>
                </a:cubicBezTo>
                <a:cubicBezTo>
                  <a:pt x="3936641" y="3853150"/>
                  <a:pt x="3927152" y="3844481"/>
                  <a:pt x="3914726" y="3838528"/>
                </a:cubicBezTo>
                <a:cubicBezTo>
                  <a:pt x="3902298" y="3832575"/>
                  <a:pt x="3887378" y="3829598"/>
                  <a:pt x="3869966" y="3829598"/>
                </a:cubicBezTo>
                <a:close/>
                <a:moveTo>
                  <a:pt x="3193691" y="3829598"/>
                </a:moveTo>
                <a:cubicBezTo>
                  <a:pt x="3176278" y="3829598"/>
                  <a:pt x="3161358" y="3832575"/>
                  <a:pt x="3148930" y="3838528"/>
                </a:cubicBezTo>
                <a:cubicBezTo>
                  <a:pt x="3136504" y="3844481"/>
                  <a:pt x="3127016" y="3853150"/>
                  <a:pt x="3120467" y="3864536"/>
                </a:cubicBezTo>
                <a:cubicBezTo>
                  <a:pt x="3113919" y="3875921"/>
                  <a:pt x="3110644" y="3889725"/>
                  <a:pt x="3110644" y="3905947"/>
                </a:cubicBezTo>
                <a:lnTo>
                  <a:pt x="3110644" y="4084541"/>
                </a:lnTo>
                <a:cubicBezTo>
                  <a:pt x="3110644" y="4100614"/>
                  <a:pt x="3113919" y="4114344"/>
                  <a:pt x="3120467" y="4125729"/>
                </a:cubicBezTo>
                <a:cubicBezTo>
                  <a:pt x="3127016" y="4137114"/>
                  <a:pt x="3136504" y="4145821"/>
                  <a:pt x="3148930" y="4151848"/>
                </a:cubicBezTo>
                <a:cubicBezTo>
                  <a:pt x="3161358" y="4157876"/>
                  <a:pt x="3176278" y="4160890"/>
                  <a:pt x="3193691" y="4160890"/>
                </a:cubicBezTo>
                <a:cubicBezTo>
                  <a:pt x="3211104" y="4160890"/>
                  <a:pt x="3226023" y="4157876"/>
                  <a:pt x="3238451" y="4151848"/>
                </a:cubicBezTo>
                <a:cubicBezTo>
                  <a:pt x="3250878" y="4145821"/>
                  <a:pt x="3260365" y="4137114"/>
                  <a:pt x="3266914" y="4125729"/>
                </a:cubicBezTo>
                <a:cubicBezTo>
                  <a:pt x="3273462" y="4114344"/>
                  <a:pt x="3276737" y="4100614"/>
                  <a:pt x="3276737" y="4084541"/>
                </a:cubicBezTo>
                <a:lnTo>
                  <a:pt x="3276737" y="3905947"/>
                </a:lnTo>
                <a:cubicBezTo>
                  <a:pt x="3276737" y="3889725"/>
                  <a:pt x="3273462" y="3875921"/>
                  <a:pt x="3266914" y="3864536"/>
                </a:cubicBezTo>
                <a:cubicBezTo>
                  <a:pt x="3260365" y="3853150"/>
                  <a:pt x="3250878" y="3844481"/>
                  <a:pt x="3238451" y="3838528"/>
                </a:cubicBezTo>
                <a:cubicBezTo>
                  <a:pt x="3226023" y="3832575"/>
                  <a:pt x="3211104" y="3829598"/>
                  <a:pt x="3193691" y="3829598"/>
                </a:cubicBezTo>
                <a:close/>
                <a:moveTo>
                  <a:pt x="7173242" y="2612099"/>
                </a:moveTo>
                <a:cubicBezTo>
                  <a:pt x="7241080" y="2612099"/>
                  <a:pt x="7294804" y="2634751"/>
                  <a:pt x="7334416" y="2680056"/>
                </a:cubicBezTo>
                <a:cubicBezTo>
                  <a:pt x="7374027" y="2725360"/>
                  <a:pt x="7393833" y="2797112"/>
                  <a:pt x="7393833" y="2895310"/>
                </a:cubicBezTo>
                <a:cubicBezTo>
                  <a:pt x="7393833" y="3012010"/>
                  <a:pt x="7374858" y="3092893"/>
                  <a:pt x="7336906" y="3137960"/>
                </a:cubicBezTo>
                <a:cubicBezTo>
                  <a:pt x="7298955" y="3183027"/>
                  <a:pt x="7245349" y="3205561"/>
                  <a:pt x="7176088" y="3205561"/>
                </a:cubicBezTo>
                <a:cubicBezTo>
                  <a:pt x="7108725" y="3205561"/>
                  <a:pt x="7055475" y="3182553"/>
                  <a:pt x="7016338" y="3136537"/>
                </a:cubicBezTo>
                <a:cubicBezTo>
                  <a:pt x="6977201" y="3090522"/>
                  <a:pt x="6957632" y="3014857"/>
                  <a:pt x="6957632" y="2909542"/>
                </a:cubicBezTo>
                <a:cubicBezTo>
                  <a:pt x="6957632" y="2803278"/>
                  <a:pt x="6977319" y="2727139"/>
                  <a:pt x="7016693" y="2681123"/>
                </a:cubicBezTo>
                <a:cubicBezTo>
                  <a:pt x="7056068" y="2635108"/>
                  <a:pt x="7108251" y="2612099"/>
                  <a:pt x="7173242" y="2612099"/>
                </a:cubicBezTo>
                <a:close/>
                <a:moveTo>
                  <a:pt x="9256408" y="2385816"/>
                </a:moveTo>
                <a:lnTo>
                  <a:pt x="9256408" y="3428998"/>
                </a:lnTo>
                <a:lnTo>
                  <a:pt x="10135926" y="3428998"/>
                </a:lnTo>
                <a:lnTo>
                  <a:pt x="10135926" y="3192752"/>
                </a:lnTo>
                <a:lnTo>
                  <a:pt x="9579467" y="3192752"/>
                </a:lnTo>
                <a:lnTo>
                  <a:pt x="9579467" y="2987104"/>
                </a:lnTo>
                <a:lnTo>
                  <a:pt x="10081133" y="2987104"/>
                </a:lnTo>
                <a:lnTo>
                  <a:pt x="10081133" y="2774340"/>
                </a:lnTo>
                <a:lnTo>
                  <a:pt x="9579467" y="2774340"/>
                </a:lnTo>
                <a:lnTo>
                  <a:pt x="9579467" y="2608541"/>
                </a:lnTo>
                <a:lnTo>
                  <a:pt x="10120271" y="2608541"/>
                </a:lnTo>
                <a:lnTo>
                  <a:pt x="10120271" y="2385816"/>
                </a:lnTo>
                <a:close/>
                <a:moveTo>
                  <a:pt x="7881961" y="2385816"/>
                </a:moveTo>
                <a:lnTo>
                  <a:pt x="7881961" y="3428998"/>
                </a:lnTo>
                <a:lnTo>
                  <a:pt x="8145959" y="3428998"/>
                </a:lnTo>
                <a:lnTo>
                  <a:pt x="8145959" y="2633447"/>
                </a:lnTo>
                <a:lnTo>
                  <a:pt x="8349005" y="3428998"/>
                </a:lnTo>
                <a:lnTo>
                  <a:pt x="8587953" y="3428998"/>
                </a:lnTo>
                <a:lnTo>
                  <a:pt x="8791366" y="2633447"/>
                </a:lnTo>
                <a:lnTo>
                  <a:pt x="8791366" y="3428998"/>
                </a:lnTo>
                <a:lnTo>
                  <a:pt x="9055364" y="3428998"/>
                </a:lnTo>
                <a:lnTo>
                  <a:pt x="9055364" y="2385816"/>
                </a:lnTo>
                <a:lnTo>
                  <a:pt x="8631693" y="2385816"/>
                </a:lnTo>
                <a:lnTo>
                  <a:pt x="8469374" y="3020549"/>
                </a:lnTo>
                <a:lnTo>
                  <a:pt x="8305887" y="2385816"/>
                </a:lnTo>
                <a:close/>
                <a:moveTo>
                  <a:pt x="4599395" y="2385816"/>
                </a:moveTo>
                <a:lnTo>
                  <a:pt x="4599395" y="3428998"/>
                </a:lnTo>
                <a:lnTo>
                  <a:pt x="5424832" y="3428998"/>
                </a:lnTo>
                <a:lnTo>
                  <a:pt x="5424832" y="3172116"/>
                </a:lnTo>
                <a:lnTo>
                  <a:pt x="4921742" y="3172116"/>
                </a:lnTo>
                <a:lnTo>
                  <a:pt x="4921742" y="2385816"/>
                </a:lnTo>
                <a:close/>
                <a:moveTo>
                  <a:pt x="3550933" y="2385816"/>
                </a:moveTo>
                <a:lnTo>
                  <a:pt x="3550933" y="3428998"/>
                </a:lnTo>
                <a:lnTo>
                  <a:pt x="4430451" y="3428998"/>
                </a:lnTo>
                <a:lnTo>
                  <a:pt x="4430451" y="3192752"/>
                </a:lnTo>
                <a:lnTo>
                  <a:pt x="3873993" y="3192752"/>
                </a:lnTo>
                <a:lnTo>
                  <a:pt x="3873993" y="2987104"/>
                </a:lnTo>
                <a:lnTo>
                  <a:pt x="4375660" y="2987104"/>
                </a:lnTo>
                <a:lnTo>
                  <a:pt x="4375660" y="2774340"/>
                </a:lnTo>
                <a:lnTo>
                  <a:pt x="3873993" y="2774340"/>
                </a:lnTo>
                <a:lnTo>
                  <a:pt x="3873993" y="2608541"/>
                </a:lnTo>
                <a:lnTo>
                  <a:pt x="4414796" y="2608541"/>
                </a:lnTo>
                <a:lnTo>
                  <a:pt x="4414796" y="2385816"/>
                </a:lnTo>
                <a:close/>
                <a:moveTo>
                  <a:pt x="1986870" y="2385816"/>
                </a:moveTo>
                <a:lnTo>
                  <a:pt x="2218958" y="3428998"/>
                </a:lnTo>
                <a:lnTo>
                  <a:pt x="2535058" y="3428998"/>
                </a:lnTo>
                <a:lnTo>
                  <a:pt x="2717312" y="2772206"/>
                </a:lnTo>
                <a:lnTo>
                  <a:pt x="2900278" y="3428998"/>
                </a:lnTo>
                <a:lnTo>
                  <a:pt x="3216378" y="3428998"/>
                </a:lnTo>
                <a:lnTo>
                  <a:pt x="3446330" y="2385816"/>
                </a:lnTo>
                <a:lnTo>
                  <a:pt x="3141739" y="2385816"/>
                </a:lnTo>
                <a:lnTo>
                  <a:pt x="3031387" y="2969014"/>
                </a:lnTo>
                <a:lnTo>
                  <a:pt x="2869669" y="2385816"/>
                </a:lnTo>
                <a:lnTo>
                  <a:pt x="2564599" y="2385816"/>
                </a:lnTo>
                <a:lnTo>
                  <a:pt x="2403270" y="2969837"/>
                </a:lnTo>
                <a:lnTo>
                  <a:pt x="2293030" y="2385816"/>
                </a:lnTo>
                <a:close/>
                <a:moveTo>
                  <a:pt x="7173954" y="2368026"/>
                </a:moveTo>
                <a:cubicBezTo>
                  <a:pt x="7004597" y="2368026"/>
                  <a:pt x="6872479" y="2415465"/>
                  <a:pt x="6777601" y="2510343"/>
                </a:cubicBezTo>
                <a:cubicBezTo>
                  <a:pt x="6682723" y="2605221"/>
                  <a:pt x="6635284" y="2737813"/>
                  <a:pt x="6635284" y="2908118"/>
                </a:cubicBezTo>
                <a:cubicBezTo>
                  <a:pt x="6635284" y="3030036"/>
                  <a:pt x="6659241" y="3131556"/>
                  <a:pt x="6707154" y="3212677"/>
                </a:cubicBezTo>
                <a:cubicBezTo>
                  <a:pt x="6755068" y="3293797"/>
                  <a:pt x="6817568" y="3353096"/>
                  <a:pt x="6894657" y="3390573"/>
                </a:cubicBezTo>
                <a:cubicBezTo>
                  <a:pt x="6971745" y="3428050"/>
                  <a:pt x="7069114" y="3446788"/>
                  <a:pt x="7186762" y="3446788"/>
                </a:cubicBezTo>
                <a:cubicBezTo>
                  <a:pt x="7302513" y="3446788"/>
                  <a:pt x="7399170" y="3425085"/>
                  <a:pt x="7476733" y="3381678"/>
                </a:cubicBezTo>
                <a:cubicBezTo>
                  <a:pt x="7554296" y="3338271"/>
                  <a:pt x="7613594" y="3277549"/>
                  <a:pt x="7654629" y="3199513"/>
                </a:cubicBezTo>
                <a:cubicBezTo>
                  <a:pt x="7695664" y="3121476"/>
                  <a:pt x="7716181" y="3021498"/>
                  <a:pt x="7716181" y="2899580"/>
                </a:cubicBezTo>
                <a:cubicBezTo>
                  <a:pt x="7716181" y="2731645"/>
                  <a:pt x="7669216" y="2601070"/>
                  <a:pt x="7575287" y="2507852"/>
                </a:cubicBezTo>
                <a:cubicBezTo>
                  <a:pt x="7481358" y="2414635"/>
                  <a:pt x="7347580" y="2368026"/>
                  <a:pt x="7173954" y="2368026"/>
                </a:cubicBezTo>
                <a:close/>
                <a:moveTo>
                  <a:pt x="6031940" y="2368026"/>
                </a:moveTo>
                <a:cubicBezTo>
                  <a:pt x="5864006" y="2368026"/>
                  <a:pt x="5734142" y="2414368"/>
                  <a:pt x="5642347" y="2507052"/>
                </a:cubicBezTo>
                <a:cubicBezTo>
                  <a:pt x="5550553" y="2599736"/>
                  <a:pt x="5504656" y="2732357"/>
                  <a:pt x="5504656" y="2904916"/>
                </a:cubicBezTo>
                <a:cubicBezTo>
                  <a:pt x="5504656" y="3034343"/>
                  <a:pt x="5530747" y="3140538"/>
                  <a:pt x="5582930" y="3223500"/>
                </a:cubicBezTo>
                <a:cubicBezTo>
                  <a:pt x="5635113" y="3306463"/>
                  <a:pt x="5697139" y="3364418"/>
                  <a:pt x="5769009" y="3397366"/>
                </a:cubicBezTo>
                <a:cubicBezTo>
                  <a:pt x="5840879" y="3430314"/>
                  <a:pt x="5933504" y="3446788"/>
                  <a:pt x="6046883" y="3446788"/>
                </a:cubicBezTo>
                <a:cubicBezTo>
                  <a:pt x="6140338" y="3446788"/>
                  <a:pt x="6217307" y="3433268"/>
                  <a:pt x="6277792" y="3406228"/>
                </a:cubicBezTo>
                <a:cubicBezTo>
                  <a:pt x="6338277" y="3379187"/>
                  <a:pt x="6388917" y="3339102"/>
                  <a:pt x="6429715" y="3285970"/>
                </a:cubicBezTo>
                <a:cubicBezTo>
                  <a:pt x="6470513" y="3232838"/>
                  <a:pt x="6500399" y="3166661"/>
                  <a:pt x="6519375" y="3087438"/>
                </a:cubicBezTo>
                <a:lnTo>
                  <a:pt x="6236876" y="3002048"/>
                </a:lnTo>
                <a:cubicBezTo>
                  <a:pt x="6222644" y="3067988"/>
                  <a:pt x="6199755" y="3118273"/>
                  <a:pt x="6168208" y="3152903"/>
                </a:cubicBezTo>
                <a:cubicBezTo>
                  <a:pt x="6136661" y="3187534"/>
                  <a:pt x="6090052" y="3204849"/>
                  <a:pt x="6028382" y="3204849"/>
                </a:cubicBezTo>
                <a:cubicBezTo>
                  <a:pt x="5964813" y="3204849"/>
                  <a:pt x="5915477" y="3183409"/>
                  <a:pt x="5880372" y="3140529"/>
                </a:cubicBezTo>
                <a:cubicBezTo>
                  <a:pt x="5845267" y="3097648"/>
                  <a:pt x="5827715" y="3018400"/>
                  <a:pt x="5827715" y="2902782"/>
                </a:cubicBezTo>
                <a:cubicBezTo>
                  <a:pt x="5827715" y="2809445"/>
                  <a:pt x="5842421" y="2740981"/>
                  <a:pt x="5871833" y="2697389"/>
                </a:cubicBezTo>
                <a:cubicBezTo>
                  <a:pt x="5910732" y="2638632"/>
                  <a:pt x="5966712" y="2609253"/>
                  <a:pt x="6039767" y="2609253"/>
                </a:cubicBezTo>
                <a:cubicBezTo>
                  <a:pt x="6072026" y="2609253"/>
                  <a:pt x="6101201" y="2615894"/>
                  <a:pt x="6127292" y="2629178"/>
                </a:cubicBezTo>
                <a:cubicBezTo>
                  <a:pt x="6153383" y="2642460"/>
                  <a:pt x="6175442" y="2661436"/>
                  <a:pt x="6193469" y="2686104"/>
                </a:cubicBezTo>
                <a:cubicBezTo>
                  <a:pt x="6204380" y="2700810"/>
                  <a:pt x="6214817" y="2724055"/>
                  <a:pt x="6224779" y="2755839"/>
                </a:cubicBezTo>
                <a:lnTo>
                  <a:pt x="6509413" y="2692508"/>
                </a:lnTo>
                <a:cubicBezTo>
                  <a:pt x="6472884" y="2582450"/>
                  <a:pt x="6417025" y="2500855"/>
                  <a:pt x="6341835" y="2447723"/>
                </a:cubicBezTo>
                <a:cubicBezTo>
                  <a:pt x="6266644" y="2394592"/>
                  <a:pt x="6163345" y="2368026"/>
                  <a:pt x="6031940" y="236802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tx1"/>
          </a:solidFill>
          <a:ln w="12700">
            <a:solidFill>
              <a:schemeClr val="bg2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544213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:split orient="vert"/>
      </p:transition>
    </mc:Choice>
    <mc:Fallback xmlns="">
      <p:transition spd="slow" advClick="0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DFFEC-C680-8420-E5D1-62114E9B1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239CDFCF-FBAC-85B1-F474-60C6515EF173}"/>
              </a:ext>
            </a:extLst>
          </p:cNvPr>
          <p:cNvGrpSpPr/>
          <p:nvPr/>
        </p:nvGrpSpPr>
        <p:grpSpPr>
          <a:xfrm>
            <a:off x="305565" y="-304800"/>
            <a:ext cx="3458465" cy="7162800"/>
            <a:chOff x="9111488" y="-304800"/>
            <a:chExt cx="3458465" cy="71628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472C90-1A96-8B71-6E60-8DB821BFD867}"/>
                </a:ext>
              </a:extLst>
            </p:cNvPr>
            <p:cNvSpPr/>
            <p:nvPr/>
          </p:nvSpPr>
          <p:spPr>
            <a:xfrm>
              <a:off x="9111488" y="0"/>
              <a:ext cx="3091074" cy="6858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F020B9-1130-444C-600A-AB89B38D2115}"/>
                </a:ext>
              </a:extLst>
            </p:cNvPr>
            <p:cNvSpPr txBox="1"/>
            <p:nvPr/>
          </p:nvSpPr>
          <p:spPr>
            <a:xfrm>
              <a:off x="9906764" y="-304800"/>
              <a:ext cx="2016404" cy="28623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8000" dirty="0"/>
                <a:t>D</a:t>
              </a:r>
              <a:endParaRPr lang="en-IN" sz="18000" dirty="0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16573D4D-2610-AE7C-1153-9EDE6C281F8F}"/>
                </a:ext>
              </a:extLst>
            </p:cNvPr>
            <p:cNvSpPr/>
            <p:nvPr/>
          </p:nvSpPr>
          <p:spPr>
            <a:xfrm rot="5400000">
              <a:off x="11712133" y="918778"/>
              <a:ext cx="1300479" cy="415161"/>
            </a:xfrm>
            <a:prstGeom prst="triangle">
              <a:avLst/>
            </a:prstGeom>
            <a:solidFill>
              <a:srgbClr val="83CBE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85049F5-5641-CF6D-7E6F-121CB6D55250}"/>
                </a:ext>
              </a:extLst>
            </p:cNvPr>
            <p:cNvSpPr txBox="1"/>
            <p:nvPr/>
          </p:nvSpPr>
          <p:spPr>
            <a:xfrm>
              <a:off x="9647747" y="2428240"/>
              <a:ext cx="22754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Accessed virtually via mobile or web</a:t>
              </a:r>
              <a:endParaRPr lang="en-IN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2668DAD-E209-C0BF-3EBD-7808A296A5E7}"/>
              </a:ext>
            </a:extLst>
          </p:cNvPr>
          <p:cNvGrpSpPr/>
          <p:nvPr/>
        </p:nvGrpSpPr>
        <p:grpSpPr>
          <a:xfrm>
            <a:off x="230185" y="-304800"/>
            <a:ext cx="3416621" cy="7162800"/>
            <a:chOff x="6092505" y="-304800"/>
            <a:chExt cx="3416621" cy="7162800"/>
          </a:xfrm>
        </p:grpSpPr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2E8BFC7A-2586-3B3C-9198-2E56FEA21703}"/>
                </a:ext>
              </a:extLst>
            </p:cNvPr>
            <p:cNvSpPr/>
            <p:nvPr/>
          </p:nvSpPr>
          <p:spPr>
            <a:xfrm rot="5400000">
              <a:off x="8651306" y="918779"/>
              <a:ext cx="1300479" cy="415161"/>
            </a:xfrm>
            <a:prstGeom prst="triangle">
              <a:avLst/>
            </a:prstGeom>
            <a:solidFill>
              <a:srgbClr val="46B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5BCF68B-1BB2-0699-C326-66B42F7B13BD}"/>
                </a:ext>
              </a:extLst>
            </p:cNvPr>
            <p:cNvSpPr/>
            <p:nvPr/>
          </p:nvSpPr>
          <p:spPr>
            <a:xfrm>
              <a:off x="6092505" y="0"/>
              <a:ext cx="3036253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FC6A58-1EEA-1F33-0E17-A8C4FB050622}"/>
                </a:ext>
              </a:extLst>
            </p:cNvPr>
            <p:cNvSpPr txBox="1"/>
            <p:nvPr/>
          </p:nvSpPr>
          <p:spPr>
            <a:xfrm>
              <a:off x="6952745" y="-304800"/>
              <a:ext cx="1996440" cy="28623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8000" dirty="0"/>
                <a:t>C</a:t>
              </a:r>
              <a:endParaRPr lang="en-IN" sz="180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0461A7D-3D97-52BB-9702-AB234DB2B98F}"/>
                </a:ext>
              </a:extLst>
            </p:cNvPr>
            <p:cNvSpPr txBox="1"/>
            <p:nvPr/>
          </p:nvSpPr>
          <p:spPr>
            <a:xfrm>
              <a:off x="6554248" y="2428240"/>
              <a:ext cx="22904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Helps reduce power wastage</a:t>
              </a:r>
              <a:endParaRPr lang="en-IN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4E41F48-5622-4F93-B9D5-C0FAE9369A80}"/>
              </a:ext>
            </a:extLst>
          </p:cNvPr>
          <p:cNvGrpSpPr/>
          <p:nvPr/>
        </p:nvGrpSpPr>
        <p:grpSpPr>
          <a:xfrm>
            <a:off x="-102843" y="-304800"/>
            <a:ext cx="3629205" cy="7162800"/>
            <a:chOff x="2876463" y="-304800"/>
            <a:chExt cx="3629205" cy="71628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4452430-740C-EEBA-E811-19D16AFB7831}"/>
                </a:ext>
              </a:extLst>
            </p:cNvPr>
            <p:cNvSpPr/>
            <p:nvPr/>
          </p:nvSpPr>
          <p:spPr>
            <a:xfrm>
              <a:off x="2876463" y="0"/>
              <a:ext cx="3198519" cy="6858000"/>
            </a:xfrm>
            <a:prstGeom prst="rect">
              <a:avLst/>
            </a:prstGeom>
            <a:solidFill>
              <a:srgbClr val="563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2BEA5A-F1FF-CD0C-9DB5-EDBE1FB8DFD0}"/>
                </a:ext>
              </a:extLst>
            </p:cNvPr>
            <p:cNvSpPr txBox="1"/>
            <p:nvPr/>
          </p:nvSpPr>
          <p:spPr>
            <a:xfrm>
              <a:off x="3579641" y="-304800"/>
              <a:ext cx="2195674" cy="28623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8000" dirty="0"/>
                <a:t>B</a:t>
              </a:r>
              <a:endParaRPr lang="en-IN" sz="180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D4B7D45-D34F-10B7-2C67-2ADA5C433D88}"/>
                </a:ext>
              </a:extLst>
            </p:cNvPr>
            <p:cNvSpPr txBox="1"/>
            <p:nvPr/>
          </p:nvSpPr>
          <p:spPr>
            <a:xfrm>
              <a:off x="3138933" y="2428240"/>
              <a:ext cx="24703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Displays energy consumption</a:t>
              </a:r>
              <a:endParaRPr lang="en-IN" dirty="0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EEC24D69-DEB6-A798-DB3F-D55B6DF88A4E}"/>
                </a:ext>
              </a:extLst>
            </p:cNvPr>
            <p:cNvSpPr/>
            <p:nvPr/>
          </p:nvSpPr>
          <p:spPr>
            <a:xfrm rot="5400000">
              <a:off x="5627132" y="898065"/>
              <a:ext cx="1300479" cy="456592"/>
            </a:xfrm>
            <a:prstGeom prst="triangle">
              <a:avLst/>
            </a:prstGeom>
            <a:solidFill>
              <a:srgbClr val="563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81210380-82F1-872B-8A69-1CB2CE3210D1}"/>
              </a:ext>
            </a:extLst>
          </p:cNvPr>
          <p:cNvSpPr/>
          <p:nvPr/>
        </p:nvSpPr>
        <p:spPr>
          <a:xfrm rot="5400000">
            <a:off x="2455609" y="918779"/>
            <a:ext cx="1300479" cy="415161"/>
          </a:xfrm>
          <a:prstGeom prst="triangle">
            <a:avLst/>
          </a:prstGeom>
          <a:solidFill>
            <a:srgbClr val="333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CDC5642-D73F-7D46-EFEF-633AE60ABB80}"/>
              </a:ext>
            </a:extLst>
          </p:cNvPr>
          <p:cNvGrpSpPr/>
          <p:nvPr/>
        </p:nvGrpSpPr>
        <p:grpSpPr>
          <a:xfrm>
            <a:off x="0" y="-304800"/>
            <a:ext cx="2907446" cy="7162800"/>
            <a:chOff x="0" y="-304800"/>
            <a:chExt cx="2907446" cy="71628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CA4A7AD-D698-334A-FEDE-2DF040A39A75}"/>
                </a:ext>
              </a:extLst>
            </p:cNvPr>
            <p:cNvSpPr/>
            <p:nvPr/>
          </p:nvSpPr>
          <p:spPr>
            <a:xfrm>
              <a:off x="0" y="0"/>
              <a:ext cx="2907446" cy="6858000"/>
            </a:xfrm>
            <a:prstGeom prst="rect">
              <a:avLst/>
            </a:prstGeom>
            <a:solidFill>
              <a:srgbClr val="333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75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BD41F9E-61D1-B063-FB0E-60FB05E2735E}"/>
                </a:ext>
              </a:extLst>
            </p:cNvPr>
            <p:cNvSpPr txBox="1"/>
            <p:nvPr/>
          </p:nvSpPr>
          <p:spPr>
            <a:xfrm>
              <a:off x="698808" y="-304800"/>
              <a:ext cx="2004608" cy="28623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8000" dirty="0"/>
                <a:t>A</a:t>
              </a:r>
              <a:endParaRPr lang="en-IN" sz="18000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EC8CB11-D134-50B1-811E-DDE4CFDB56A4}"/>
                </a:ext>
              </a:extLst>
            </p:cNvPr>
            <p:cNvSpPr txBox="1"/>
            <p:nvPr/>
          </p:nvSpPr>
          <p:spPr>
            <a:xfrm>
              <a:off x="397860" y="2428240"/>
              <a:ext cx="22578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Measures electricity usage in Real time</a:t>
              </a:r>
              <a:endParaRPr lang="en-IN" dirty="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9613C70-073A-8C2E-A76A-C8C6E8420C21}"/>
              </a:ext>
            </a:extLst>
          </p:cNvPr>
          <p:cNvSpPr/>
          <p:nvPr/>
        </p:nvSpPr>
        <p:spPr>
          <a:xfrm>
            <a:off x="10439400" y="6400800"/>
            <a:ext cx="1752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026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>
        <p:fade/>
      </p:transition>
    </mc:Choice>
    <mc:Fallback>
      <p:transition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9356A-6BE8-EB8D-31DF-9A8FE3D76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23EB4DDE-83A1-40B3-5F77-8C20C0809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0" y="6324600"/>
            <a:ext cx="1752600" cy="4572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BD521791-1438-7339-C657-791586FE1911}"/>
              </a:ext>
            </a:extLst>
          </p:cNvPr>
          <p:cNvGrpSpPr/>
          <p:nvPr/>
        </p:nvGrpSpPr>
        <p:grpSpPr>
          <a:xfrm>
            <a:off x="9110090" y="-304800"/>
            <a:ext cx="3510719" cy="7162800"/>
            <a:chOff x="9111488" y="-304800"/>
            <a:chExt cx="3510719" cy="71628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14A0064-9CA6-3725-0184-06E286192902}"/>
                </a:ext>
              </a:extLst>
            </p:cNvPr>
            <p:cNvSpPr/>
            <p:nvPr/>
          </p:nvSpPr>
          <p:spPr>
            <a:xfrm>
              <a:off x="9111488" y="0"/>
              <a:ext cx="3091074" cy="6858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D1163CC-638D-AF7E-891B-69908073AA0C}"/>
                </a:ext>
              </a:extLst>
            </p:cNvPr>
            <p:cNvSpPr txBox="1"/>
            <p:nvPr/>
          </p:nvSpPr>
          <p:spPr>
            <a:xfrm>
              <a:off x="9906764" y="-304800"/>
              <a:ext cx="2016404" cy="28623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8000" dirty="0"/>
                <a:t>D</a:t>
              </a:r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026A10C0-32C1-8748-A635-C024415D6D0F}"/>
                </a:ext>
              </a:extLst>
            </p:cNvPr>
            <p:cNvSpPr/>
            <p:nvPr/>
          </p:nvSpPr>
          <p:spPr>
            <a:xfrm rot="5400000">
              <a:off x="11764387" y="918778"/>
              <a:ext cx="1300479" cy="415161"/>
            </a:xfrm>
            <a:prstGeom prst="triangle">
              <a:avLst/>
            </a:prstGeom>
            <a:solidFill>
              <a:srgbClr val="B9CD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25A0A83-0D35-E8E5-36A6-C19F469F03A9}"/>
                </a:ext>
              </a:extLst>
            </p:cNvPr>
            <p:cNvSpPr txBox="1"/>
            <p:nvPr/>
          </p:nvSpPr>
          <p:spPr>
            <a:xfrm>
              <a:off x="9647747" y="2428240"/>
              <a:ext cx="22754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Accessed virtually via mobile or web</a:t>
              </a:r>
              <a:endParaRPr lang="en-IN" dirty="0"/>
            </a:p>
          </p:txBody>
        </p:sp>
      </p:grp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48B052BB-9E97-54C1-BFC3-9D01A071E299}"/>
              </a:ext>
            </a:extLst>
          </p:cNvPr>
          <p:cNvSpPr/>
          <p:nvPr/>
        </p:nvSpPr>
        <p:spPr>
          <a:xfrm rot="5400000">
            <a:off x="2455609" y="918779"/>
            <a:ext cx="1300479" cy="415161"/>
          </a:xfrm>
          <a:prstGeom prst="triangle">
            <a:avLst/>
          </a:prstGeom>
          <a:solidFill>
            <a:srgbClr val="333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AA9B08C-8A61-C11F-AC11-5B5E591A7F01}"/>
              </a:ext>
            </a:extLst>
          </p:cNvPr>
          <p:cNvGrpSpPr/>
          <p:nvPr/>
        </p:nvGrpSpPr>
        <p:grpSpPr>
          <a:xfrm>
            <a:off x="0" y="-304800"/>
            <a:ext cx="2907446" cy="7162800"/>
            <a:chOff x="0" y="-304800"/>
            <a:chExt cx="2907446" cy="71628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41700C4-B3E1-C4A6-DB01-A6E20C6F5D9B}"/>
                </a:ext>
              </a:extLst>
            </p:cNvPr>
            <p:cNvSpPr/>
            <p:nvPr/>
          </p:nvSpPr>
          <p:spPr>
            <a:xfrm>
              <a:off x="0" y="0"/>
              <a:ext cx="2907446" cy="6858000"/>
            </a:xfrm>
            <a:prstGeom prst="rect">
              <a:avLst/>
            </a:prstGeom>
            <a:solidFill>
              <a:srgbClr val="333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75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561BCE-1A0E-40A3-C164-B6781E015842}"/>
                </a:ext>
              </a:extLst>
            </p:cNvPr>
            <p:cNvSpPr txBox="1"/>
            <p:nvPr/>
          </p:nvSpPr>
          <p:spPr>
            <a:xfrm>
              <a:off x="698808" y="-304800"/>
              <a:ext cx="2004608" cy="28623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8000" dirty="0"/>
                <a:t>A</a:t>
              </a:r>
              <a:endParaRPr lang="en-IN" sz="18000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72A0EBB-A88C-3DE9-687D-51FD9171F244}"/>
                </a:ext>
              </a:extLst>
            </p:cNvPr>
            <p:cNvSpPr txBox="1"/>
            <p:nvPr/>
          </p:nvSpPr>
          <p:spPr>
            <a:xfrm>
              <a:off x="397860" y="2428240"/>
              <a:ext cx="22578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Measures electricity usage in Real time</a:t>
              </a:r>
              <a:endParaRPr lang="en-IN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439C4C6-F0B1-6085-28DE-DD4CC516C6C9}"/>
              </a:ext>
            </a:extLst>
          </p:cNvPr>
          <p:cNvGrpSpPr/>
          <p:nvPr/>
        </p:nvGrpSpPr>
        <p:grpSpPr>
          <a:xfrm>
            <a:off x="6092505" y="-304800"/>
            <a:ext cx="3416621" cy="7162800"/>
            <a:chOff x="6092505" y="-304800"/>
            <a:chExt cx="3416621" cy="7162800"/>
          </a:xfrm>
        </p:grpSpPr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1DBA43FF-93DA-EAE4-EC7A-B051D9F3636A}"/>
                </a:ext>
              </a:extLst>
            </p:cNvPr>
            <p:cNvSpPr/>
            <p:nvPr/>
          </p:nvSpPr>
          <p:spPr>
            <a:xfrm rot="5400000">
              <a:off x="8651306" y="918779"/>
              <a:ext cx="1300479" cy="415161"/>
            </a:xfrm>
            <a:prstGeom prst="triangle">
              <a:avLst/>
            </a:prstGeom>
            <a:solidFill>
              <a:srgbClr val="95B3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CC1EF22-3996-9393-77F3-5EF7FF4B1F97}"/>
                </a:ext>
              </a:extLst>
            </p:cNvPr>
            <p:cNvSpPr/>
            <p:nvPr/>
          </p:nvSpPr>
          <p:spPr>
            <a:xfrm>
              <a:off x="6092505" y="0"/>
              <a:ext cx="3036253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1D200A6-B415-08C0-DA7A-28591BFB4F83}"/>
                </a:ext>
              </a:extLst>
            </p:cNvPr>
            <p:cNvSpPr txBox="1"/>
            <p:nvPr/>
          </p:nvSpPr>
          <p:spPr>
            <a:xfrm>
              <a:off x="6952745" y="-304800"/>
              <a:ext cx="1996440" cy="28623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8000" dirty="0"/>
                <a:t>C</a:t>
              </a:r>
              <a:endParaRPr lang="en-IN" sz="180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55CE711-EB38-C012-4053-23DB8F964C69}"/>
                </a:ext>
              </a:extLst>
            </p:cNvPr>
            <p:cNvSpPr txBox="1"/>
            <p:nvPr/>
          </p:nvSpPr>
          <p:spPr>
            <a:xfrm>
              <a:off x="6554248" y="2428240"/>
              <a:ext cx="22904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Helps reduce power wastage</a:t>
              </a:r>
              <a:endParaRPr lang="en-IN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82B73DB-8858-8E83-E188-E087ACC445D1}"/>
              </a:ext>
            </a:extLst>
          </p:cNvPr>
          <p:cNvGrpSpPr/>
          <p:nvPr/>
        </p:nvGrpSpPr>
        <p:grpSpPr>
          <a:xfrm>
            <a:off x="2904517" y="-304800"/>
            <a:ext cx="3629205" cy="7162800"/>
            <a:chOff x="2876463" y="-304800"/>
            <a:chExt cx="3629205" cy="71628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6EDC7C8-F7AB-CA77-CF51-E9F8A84F0C5D}"/>
                </a:ext>
              </a:extLst>
            </p:cNvPr>
            <p:cNvSpPr/>
            <p:nvPr/>
          </p:nvSpPr>
          <p:spPr>
            <a:xfrm>
              <a:off x="2876463" y="0"/>
              <a:ext cx="3198519" cy="6858000"/>
            </a:xfrm>
            <a:prstGeom prst="rect">
              <a:avLst/>
            </a:prstGeom>
            <a:solidFill>
              <a:srgbClr val="563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EC265CC-9445-AAD6-3096-D8C2BEFD9A59}"/>
                </a:ext>
              </a:extLst>
            </p:cNvPr>
            <p:cNvSpPr txBox="1"/>
            <p:nvPr/>
          </p:nvSpPr>
          <p:spPr>
            <a:xfrm>
              <a:off x="3579641" y="-304800"/>
              <a:ext cx="2195674" cy="28623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8000" dirty="0"/>
                <a:t>B</a:t>
              </a:r>
              <a:endParaRPr lang="en-IN" sz="180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848FB55-278E-973A-186D-32D9CFEAE71E}"/>
                </a:ext>
              </a:extLst>
            </p:cNvPr>
            <p:cNvSpPr txBox="1"/>
            <p:nvPr/>
          </p:nvSpPr>
          <p:spPr>
            <a:xfrm>
              <a:off x="3138933" y="2428240"/>
              <a:ext cx="24703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Displays energy consumption</a:t>
              </a:r>
              <a:endParaRPr lang="en-IN" dirty="0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A3B9CE3F-E6C5-F2B1-F1AA-654DBB4CB911}"/>
                </a:ext>
              </a:extLst>
            </p:cNvPr>
            <p:cNvSpPr/>
            <p:nvPr/>
          </p:nvSpPr>
          <p:spPr>
            <a:xfrm rot="5400000">
              <a:off x="5627132" y="898065"/>
              <a:ext cx="1300479" cy="456592"/>
            </a:xfrm>
            <a:prstGeom prst="triangle">
              <a:avLst/>
            </a:prstGeom>
            <a:solidFill>
              <a:srgbClr val="563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9650924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4709072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21351" y="2013330"/>
            <a:ext cx="4610100" cy="117475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>
              <a:lnSpc>
                <a:spcPts val="4600"/>
              </a:lnSpc>
              <a:spcBef>
                <a:spcPts val="45"/>
              </a:spcBef>
            </a:pPr>
            <a:r>
              <a:rPr spc="204" dirty="0"/>
              <a:t>Smart</a:t>
            </a:r>
            <a:r>
              <a:rPr spc="-90" dirty="0"/>
              <a:t> </a:t>
            </a:r>
            <a:r>
              <a:rPr spc="140" dirty="0"/>
              <a:t>Home</a:t>
            </a:r>
            <a:r>
              <a:rPr spc="-110" dirty="0"/>
              <a:t> </a:t>
            </a:r>
            <a:r>
              <a:rPr spc="145" dirty="0"/>
              <a:t>Energy </a:t>
            </a:r>
            <a:r>
              <a:rPr spc="175" dirty="0"/>
              <a:t>Monitor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90" dirty="0"/>
              <a:t>Programming-</a:t>
            </a:r>
            <a:r>
              <a:rPr spc="105" dirty="0"/>
              <a:t>based</a:t>
            </a:r>
            <a:r>
              <a:rPr dirty="0"/>
              <a:t> </a:t>
            </a:r>
            <a:r>
              <a:rPr spc="95" dirty="0"/>
              <a:t>Energy</a:t>
            </a:r>
            <a:r>
              <a:rPr spc="-15" dirty="0"/>
              <a:t> </a:t>
            </a:r>
            <a:r>
              <a:rPr spc="105" dirty="0"/>
              <a:t>Monitoring</a:t>
            </a:r>
            <a:r>
              <a:rPr spc="35" dirty="0"/>
              <a:t> </a:t>
            </a:r>
            <a:r>
              <a:rPr spc="70" dirty="0"/>
              <a:t>System</a:t>
            </a: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pc="70" dirty="0"/>
          </a:p>
          <a:p>
            <a:pPr marL="12700" marR="5080">
              <a:lnSpc>
                <a:spcPct val="138000"/>
              </a:lnSpc>
            </a:pPr>
            <a:r>
              <a:rPr sz="1450" dirty="0">
                <a:latin typeface="Microsoft Sans Serif"/>
                <a:cs typeface="Microsoft Sans Serif"/>
              </a:rPr>
              <a:t>A</a:t>
            </a:r>
            <a:r>
              <a:rPr sz="1450" spc="-5" dirty="0">
                <a:latin typeface="Microsoft Sans Serif"/>
                <a:cs typeface="Microsoft Sans Serif"/>
              </a:rPr>
              <a:t> </a:t>
            </a:r>
            <a:r>
              <a:rPr sz="1450" dirty="0">
                <a:latin typeface="Microsoft Sans Serif"/>
                <a:cs typeface="Microsoft Sans Serif"/>
              </a:rPr>
              <a:t>computational</a:t>
            </a:r>
            <a:r>
              <a:rPr sz="1450" spc="-45" dirty="0">
                <a:latin typeface="Microsoft Sans Serif"/>
                <a:cs typeface="Microsoft Sans Serif"/>
              </a:rPr>
              <a:t> </a:t>
            </a:r>
            <a:r>
              <a:rPr sz="1450" dirty="0">
                <a:latin typeface="Microsoft Sans Serif"/>
                <a:cs typeface="Microsoft Sans Serif"/>
              </a:rPr>
              <a:t>solution</a:t>
            </a:r>
            <a:r>
              <a:rPr sz="1450" spc="-30" dirty="0">
                <a:latin typeface="Microsoft Sans Serif"/>
                <a:cs typeface="Microsoft Sans Serif"/>
              </a:rPr>
              <a:t> </a:t>
            </a:r>
            <a:r>
              <a:rPr sz="1450" dirty="0">
                <a:latin typeface="Microsoft Sans Serif"/>
                <a:cs typeface="Microsoft Sans Serif"/>
              </a:rPr>
              <a:t>for</a:t>
            </a:r>
            <a:r>
              <a:rPr sz="1450" spc="-20" dirty="0">
                <a:latin typeface="Microsoft Sans Serif"/>
                <a:cs typeface="Microsoft Sans Serif"/>
              </a:rPr>
              <a:t> </a:t>
            </a:r>
            <a:r>
              <a:rPr sz="1450" dirty="0">
                <a:latin typeface="Microsoft Sans Serif"/>
                <a:cs typeface="Microsoft Sans Serif"/>
              </a:rPr>
              <a:t>tracking</a:t>
            </a:r>
            <a:r>
              <a:rPr sz="1450" spc="-30" dirty="0">
                <a:latin typeface="Microsoft Sans Serif"/>
                <a:cs typeface="Microsoft Sans Serif"/>
              </a:rPr>
              <a:t> </a:t>
            </a:r>
            <a:r>
              <a:rPr sz="1450" dirty="0">
                <a:latin typeface="Microsoft Sans Serif"/>
                <a:cs typeface="Microsoft Sans Serif"/>
              </a:rPr>
              <a:t>and</a:t>
            </a:r>
            <a:r>
              <a:rPr sz="1450" spc="-15" dirty="0">
                <a:latin typeface="Microsoft Sans Serif"/>
                <a:cs typeface="Microsoft Sans Serif"/>
              </a:rPr>
              <a:t> </a:t>
            </a:r>
            <a:r>
              <a:rPr sz="1450" dirty="0">
                <a:latin typeface="Microsoft Sans Serif"/>
                <a:cs typeface="Microsoft Sans Serif"/>
              </a:rPr>
              <a:t>optimizing</a:t>
            </a:r>
            <a:r>
              <a:rPr sz="1450" spc="-45" dirty="0">
                <a:latin typeface="Microsoft Sans Serif"/>
                <a:cs typeface="Microsoft Sans Serif"/>
              </a:rPr>
              <a:t> </a:t>
            </a:r>
            <a:r>
              <a:rPr sz="1450" dirty="0">
                <a:latin typeface="Microsoft Sans Serif"/>
                <a:cs typeface="Microsoft Sans Serif"/>
              </a:rPr>
              <a:t>household</a:t>
            </a:r>
            <a:r>
              <a:rPr sz="1450" spc="-35" dirty="0">
                <a:latin typeface="Microsoft Sans Serif"/>
                <a:cs typeface="Microsoft Sans Serif"/>
              </a:rPr>
              <a:t> </a:t>
            </a:r>
            <a:r>
              <a:rPr sz="1450" spc="-10" dirty="0">
                <a:latin typeface="Microsoft Sans Serif"/>
                <a:cs typeface="Microsoft Sans Serif"/>
              </a:rPr>
              <a:t>electricity </a:t>
            </a:r>
            <a:r>
              <a:rPr sz="1450" dirty="0">
                <a:latin typeface="Microsoft Sans Serif"/>
                <a:cs typeface="Microsoft Sans Serif"/>
              </a:rPr>
              <a:t>consumption</a:t>
            </a:r>
            <a:r>
              <a:rPr sz="1450" spc="-30" dirty="0">
                <a:latin typeface="Microsoft Sans Serif"/>
                <a:cs typeface="Microsoft Sans Serif"/>
              </a:rPr>
              <a:t> </a:t>
            </a:r>
            <a:r>
              <a:rPr sz="1450" dirty="0">
                <a:latin typeface="Microsoft Sans Serif"/>
                <a:cs typeface="Microsoft Sans Serif"/>
              </a:rPr>
              <a:t>through</a:t>
            </a:r>
            <a:r>
              <a:rPr sz="1450" spc="-30" dirty="0">
                <a:latin typeface="Microsoft Sans Serif"/>
                <a:cs typeface="Microsoft Sans Serif"/>
              </a:rPr>
              <a:t> </a:t>
            </a:r>
            <a:r>
              <a:rPr sz="1450" dirty="0">
                <a:latin typeface="Microsoft Sans Serif"/>
                <a:cs typeface="Microsoft Sans Serif"/>
              </a:rPr>
              <a:t>automated</a:t>
            </a:r>
            <a:r>
              <a:rPr sz="1450" spc="-30" dirty="0">
                <a:latin typeface="Microsoft Sans Serif"/>
                <a:cs typeface="Microsoft Sans Serif"/>
              </a:rPr>
              <a:t> </a:t>
            </a:r>
            <a:r>
              <a:rPr sz="1450" dirty="0">
                <a:latin typeface="Microsoft Sans Serif"/>
                <a:cs typeface="Microsoft Sans Serif"/>
              </a:rPr>
              <a:t>data</a:t>
            </a:r>
            <a:r>
              <a:rPr sz="1450" spc="-15" dirty="0">
                <a:latin typeface="Microsoft Sans Serif"/>
                <a:cs typeface="Microsoft Sans Serif"/>
              </a:rPr>
              <a:t> </a:t>
            </a:r>
            <a:r>
              <a:rPr sz="1450" dirty="0">
                <a:latin typeface="Microsoft Sans Serif"/>
                <a:cs typeface="Microsoft Sans Serif"/>
              </a:rPr>
              <a:t>analysis and</a:t>
            </a:r>
            <a:r>
              <a:rPr sz="1450" spc="-10" dirty="0">
                <a:latin typeface="Microsoft Sans Serif"/>
                <a:cs typeface="Microsoft Sans Serif"/>
              </a:rPr>
              <a:t> intelligent recommendations.</a:t>
            </a:r>
            <a:endParaRPr sz="1450">
              <a:latin typeface="Microsoft Sans Serif"/>
              <a:cs typeface="Microsoft Sans Serif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3C4446-D01E-704F-1EF0-3604E8740324}"/>
              </a:ext>
            </a:extLst>
          </p:cNvPr>
          <p:cNvSpPr/>
          <p:nvPr/>
        </p:nvSpPr>
        <p:spPr>
          <a:xfrm>
            <a:off x="10439400" y="6400800"/>
            <a:ext cx="1752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66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50" spc="110" dirty="0"/>
              <a:t>What</a:t>
            </a:r>
            <a:r>
              <a:rPr sz="3450" spc="-100" dirty="0"/>
              <a:t> </a:t>
            </a:r>
            <a:r>
              <a:rPr sz="3450" spc="145" dirty="0"/>
              <a:t>is</a:t>
            </a:r>
            <a:r>
              <a:rPr sz="3450" spc="-85" dirty="0"/>
              <a:t> </a:t>
            </a:r>
            <a:r>
              <a:rPr sz="3450" spc="130" dirty="0"/>
              <a:t>a</a:t>
            </a:r>
            <a:r>
              <a:rPr sz="3450" spc="-90" dirty="0"/>
              <a:t> </a:t>
            </a:r>
            <a:r>
              <a:rPr sz="3450" spc="185" dirty="0"/>
              <a:t>Smart</a:t>
            </a:r>
            <a:r>
              <a:rPr sz="3450" spc="-65" dirty="0"/>
              <a:t> </a:t>
            </a:r>
            <a:r>
              <a:rPr sz="3450" spc="130" dirty="0"/>
              <a:t>Home</a:t>
            </a:r>
            <a:r>
              <a:rPr sz="3450" spc="-90" dirty="0"/>
              <a:t> </a:t>
            </a:r>
            <a:r>
              <a:rPr sz="3450" spc="150" dirty="0"/>
              <a:t>Energy</a:t>
            </a:r>
            <a:r>
              <a:rPr sz="3450" spc="-80" dirty="0"/>
              <a:t> </a:t>
            </a:r>
            <a:r>
              <a:rPr sz="3450" spc="150" dirty="0"/>
              <a:t>Monitor?</a:t>
            </a:r>
            <a:endParaRPr sz="345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309" y="1887397"/>
            <a:ext cx="6965569" cy="38877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014461" y="1683207"/>
            <a:ext cx="3552825" cy="42621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165" dirty="0">
                <a:solidFill>
                  <a:srgbClr val="2C2925"/>
                </a:solidFill>
                <a:latin typeface="Arial Black"/>
                <a:cs typeface="Arial Black"/>
              </a:rPr>
              <a:t>Energy </a:t>
            </a:r>
            <a:r>
              <a:rPr sz="2100" spc="-105" dirty="0">
                <a:solidFill>
                  <a:srgbClr val="2C2925"/>
                </a:solidFill>
                <a:latin typeface="Arial Black"/>
                <a:cs typeface="Arial Black"/>
              </a:rPr>
              <a:t>Monitoring</a:t>
            </a:r>
            <a:r>
              <a:rPr sz="2100" spc="-180" dirty="0">
                <a:solidFill>
                  <a:srgbClr val="2C2925"/>
                </a:solidFill>
                <a:latin typeface="Arial Black"/>
                <a:cs typeface="Arial Black"/>
              </a:rPr>
              <a:t> </a:t>
            </a:r>
            <a:r>
              <a:rPr sz="2100" spc="-10" dirty="0">
                <a:solidFill>
                  <a:srgbClr val="2C2925"/>
                </a:solidFill>
                <a:latin typeface="Arial Black"/>
                <a:cs typeface="Arial Black"/>
              </a:rPr>
              <a:t>System</a:t>
            </a:r>
            <a:endParaRPr sz="2100">
              <a:latin typeface="Arial Black"/>
              <a:cs typeface="Arial Black"/>
            </a:endParaRPr>
          </a:p>
          <a:p>
            <a:pPr marL="12700" marR="107314">
              <a:lnSpc>
                <a:spcPct val="135700"/>
              </a:lnSpc>
              <a:spcBef>
                <a:spcPts val="1285"/>
              </a:spcBef>
            </a:pP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A</a:t>
            </a:r>
            <a:r>
              <a:rPr sz="1350" spc="6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Smart</a:t>
            </a:r>
            <a:r>
              <a:rPr sz="1350" spc="7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Home</a:t>
            </a:r>
            <a:r>
              <a:rPr sz="1350" spc="4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Energy</a:t>
            </a:r>
            <a:r>
              <a:rPr sz="1350" spc="4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Monitor</a:t>
            </a:r>
            <a:r>
              <a:rPr sz="1350" spc="7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is</a:t>
            </a:r>
            <a:r>
              <a:rPr sz="1350" spc="5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spc="-50" dirty="0">
                <a:solidFill>
                  <a:srgbClr val="2C2925"/>
                </a:solidFill>
                <a:latin typeface="Microsoft Sans Serif"/>
                <a:cs typeface="Microsoft Sans Serif"/>
              </a:rPr>
              <a:t>a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computational</a:t>
            </a:r>
            <a:r>
              <a:rPr sz="1350" spc="7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system</a:t>
            </a:r>
            <a:r>
              <a:rPr sz="1350" spc="8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that</a:t>
            </a:r>
            <a:r>
              <a:rPr sz="1350" spc="8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tracks</a:t>
            </a:r>
            <a:r>
              <a:rPr sz="1350" spc="7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electricity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consumption</a:t>
            </a:r>
            <a:r>
              <a:rPr sz="1350" spc="8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patterns</a:t>
            </a:r>
            <a:r>
              <a:rPr sz="1350" spc="12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across</a:t>
            </a:r>
            <a:r>
              <a:rPr sz="1350" spc="10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household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appliances.</a:t>
            </a:r>
            <a:r>
              <a:rPr sz="1350" spc="3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It</a:t>
            </a:r>
            <a:r>
              <a:rPr sz="1350" spc="9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processes</a:t>
            </a:r>
            <a:r>
              <a:rPr sz="1350" spc="3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usage</a:t>
            </a:r>
            <a:r>
              <a:rPr sz="1350" spc="5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data</a:t>
            </a:r>
            <a:r>
              <a:rPr sz="1350" spc="7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to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provide</a:t>
            </a:r>
            <a:r>
              <a:rPr sz="1350" spc="5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insights</a:t>
            </a:r>
            <a:r>
              <a:rPr sz="1350" spc="4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into</a:t>
            </a:r>
            <a:r>
              <a:rPr sz="1350" spc="6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energy</a:t>
            </a:r>
            <a:r>
              <a:rPr sz="1350" spc="5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expenditure</a:t>
            </a:r>
            <a:r>
              <a:rPr sz="1350" spc="5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and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identifies</a:t>
            </a:r>
            <a:r>
              <a:rPr sz="1350" spc="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optimization</a:t>
            </a:r>
            <a:r>
              <a:rPr sz="1350" spc="2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opportunities.</a:t>
            </a:r>
            <a:endParaRPr sz="13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3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350">
              <a:latin typeface="Microsoft Sans Serif"/>
              <a:cs typeface="Microsoft Sans Serif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Real-time</a:t>
            </a:r>
            <a:r>
              <a:rPr sz="1350" spc="2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tracking</a:t>
            </a:r>
            <a:r>
              <a:rPr sz="1350" spc="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of</a:t>
            </a:r>
            <a:r>
              <a:rPr sz="1350" spc="7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appliance</a:t>
            </a:r>
            <a:r>
              <a:rPr sz="1350" spc="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power</a:t>
            </a:r>
            <a:endParaRPr sz="1350">
              <a:latin typeface="Microsoft Sans Serif"/>
              <a:cs typeface="Microsoft Sans Serif"/>
            </a:endParaRPr>
          </a:p>
          <a:p>
            <a:pPr marL="299085">
              <a:lnSpc>
                <a:spcPct val="100000"/>
              </a:lnSpc>
              <a:spcBef>
                <a:spcPts val="580"/>
              </a:spcBef>
            </a:pPr>
            <a:r>
              <a:rPr sz="13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usage</a:t>
            </a:r>
            <a:endParaRPr sz="1350">
              <a:latin typeface="Microsoft Sans Serif"/>
              <a:cs typeface="Microsoft Sans Serif"/>
            </a:endParaRPr>
          </a:p>
          <a:p>
            <a:pPr marL="299085" marR="5080" indent="-287020">
              <a:lnSpc>
                <a:spcPts val="2210"/>
              </a:lnSpc>
              <a:spcBef>
                <a:spcPts val="155"/>
              </a:spcBef>
              <a:buChar char="•"/>
              <a:tabLst>
                <a:tab pos="299085" algn="l"/>
              </a:tabLst>
            </a:pP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Automated</a:t>
            </a:r>
            <a:r>
              <a:rPr sz="1350" spc="4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cost</a:t>
            </a:r>
            <a:r>
              <a:rPr sz="1350" spc="7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calculation</a:t>
            </a:r>
            <a:r>
              <a:rPr sz="1350" spc="5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based</a:t>
            </a:r>
            <a:r>
              <a:rPr sz="1350" spc="6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on</a:t>
            </a:r>
            <a:r>
              <a:rPr sz="1350" spc="7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tariff rates</a:t>
            </a:r>
            <a:endParaRPr sz="1350">
              <a:latin typeface="Microsoft Sans Serif"/>
              <a:cs typeface="Microsoft Sans Serif"/>
            </a:endParaRPr>
          </a:p>
          <a:p>
            <a:pPr marL="299085" indent="-286385">
              <a:lnSpc>
                <a:spcPct val="100000"/>
              </a:lnSpc>
              <a:spcBef>
                <a:spcPts val="405"/>
              </a:spcBef>
              <a:buChar char="•"/>
              <a:tabLst>
                <a:tab pos="299085" algn="l"/>
              </a:tabLst>
            </a:pP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Data-driven</a:t>
            </a:r>
            <a:r>
              <a:rPr sz="1350" spc="10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2C2925"/>
                </a:solidFill>
                <a:latin typeface="Microsoft Sans Serif"/>
                <a:cs typeface="Microsoft Sans Serif"/>
              </a:rPr>
              <a:t>recommendations</a:t>
            </a:r>
            <a:r>
              <a:rPr sz="1350" spc="12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for</a:t>
            </a:r>
            <a:endParaRPr sz="1350">
              <a:latin typeface="Microsoft Sans Serif"/>
              <a:cs typeface="Microsoft Sans Serif"/>
            </a:endParaRPr>
          </a:p>
          <a:p>
            <a:pPr marL="299085">
              <a:lnSpc>
                <a:spcPct val="100000"/>
              </a:lnSpc>
              <a:spcBef>
                <a:spcPts val="575"/>
              </a:spcBef>
            </a:pPr>
            <a:r>
              <a:rPr sz="13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efficiency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D1D1B3-3B95-B30D-AE90-4441C6BBAA87}"/>
              </a:ext>
            </a:extLst>
          </p:cNvPr>
          <p:cNvSpPr/>
          <p:nvPr/>
        </p:nvSpPr>
        <p:spPr>
          <a:xfrm>
            <a:off x="10439400" y="6400800"/>
            <a:ext cx="1752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4709072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559300">
              <a:lnSpc>
                <a:spcPct val="100000"/>
              </a:lnSpc>
              <a:spcBef>
                <a:spcPts val="135"/>
              </a:spcBef>
            </a:pPr>
            <a:r>
              <a:rPr sz="3300" spc="110" dirty="0"/>
              <a:t>Why</a:t>
            </a:r>
            <a:r>
              <a:rPr sz="3300" spc="-85" dirty="0"/>
              <a:t> </a:t>
            </a:r>
            <a:r>
              <a:rPr sz="3300" spc="165" dirty="0"/>
              <a:t>Energy</a:t>
            </a:r>
            <a:r>
              <a:rPr sz="3300" spc="-85" dirty="0"/>
              <a:t> </a:t>
            </a:r>
            <a:r>
              <a:rPr sz="3300" spc="185" dirty="0"/>
              <a:t>Monitoring</a:t>
            </a:r>
            <a:r>
              <a:rPr sz="3300" spc="-95" dirty="0"/>
              <a:t> </a:t>
            </a:r>
            <a:r>
              <a:rPr sz="3300" spc="145" dirty="0"/>
              <a:t>Matters</a:t>
            </a:r>
            <a:endParaRPr sz="3300" dirty="0"/>
          </a:p>
        </p:txBody>
      </p:sp>
      <p:grpSp>
        <p:nvGrpSpPr>
          <p:cNvPr id="4" name="object 4"/>
          <p:cNvGrpSpPr/>
          <p:nvPr/>
        </p:nvGrpSpPr>
        <p:grpSpPr>
          <a:xfrm>
            <a:off x="5163565" y="1845691"/>
            <a:ext cx="3145790" cy="2415540"/>
            <a:chOff x="5163565" y="1845691"/>
            <a:chExt cx="3145790" cy="2415540"/>
          </a:xfrm>
        </p:grpSpPr>
        <p:sp>
          <p:nvSpPr>
            <p:cNvPr id="5" name="object 5"/>
            <p:cNvSpPr/>
            <p:nvPr/>
          </p:nvSpPr>
          <p:spPr>
            <a:xfrm>
              <a:off x="5167375" y="1849501"/>
              <a:ext cx="3138170" cy="2407920"/>
            </a:xfrm>
            <a:custGeom>
              <a:avLst/>
              <a:gdLst/>
              <a:ahLst/>
              <a:cxnLst/>
              <a:rect l="l" t="t" r="r" b="b"/>
              <a:pathLst>
                <a:path w="3138170" h="2407920">
                  <a:moveTo>
                    <a:pt x="0" y="71374"/>
                  </a:moveTo>
                  <a:lnTo>
                    <a:pt x="5617" y="43559"/>
                  </a:lnTo>
                  <a:lnTo>
                    <a:pt x="20939" y="20875"/>
                  </a:lnTo>
                  <a:lnTo>
                    <a:pt x="43666" y="5597"/>
                  </a:lnTo>
                  <a:lnTo>
                    <a:pt x="71500" y="0"/>
                  </a:lnTo>
                  <a:lnTo>
                    <a:pt x="3066542" y="0"/>
                  </a:lnTo>
                  <a:lnTo>
                    <a:pt x="3094376" y="5597"/>
                  </a:lnTo>
                  <a:lnTo>
                    <a:pt x="3117103" y="20875"/>
                  </a:lnTo>
                  <a:lnTo>
                    <a:pt x="3132425" y="43559"/>
                  </a:lnTo>
                  <a:lnTo>
                    <a:pt x="3138043" y="71374"/>
                  </a:lnTo>
                  <a:lnTo>
                    <a:pt x="3138043" y="2336419"/>
                  </a:lnTo>
                  <a:lnTo>
                    <a:pt x="3132425" y="2364253"/>
                  </a:lnTo>
                  <a:lnTo>
                    <a:pt x="3117103" y="2386980"/>
                  </a:lnTo>
                  <a:lnTo>
                    <a:pt x="3094376" y="2402302"/>
                  </a:lnTo>
                  <a:lnTo>
                    <a:pt x="3066542" y="2407920"/>
                  </a:lnTo>
                  <a:lnTo>
                    <a:pt x="71500" y="2407920"/>
                  </a:lnTo>
                  <a:lnTo>
                    <a:pt x="43666" y="2402302"/>
                  </a:lnTo>
                  <a:lnTo>
                    <a:pt x="20939" y="2386980"/>
                  </a:lnTo>
                  <a:lnTo>
                    <a:pt x="5617" y="2364253"/>
                  </a:lnTo>
                  <a:lnTo>
                    <a:pt x="0" y="2336419"/>
                  </a:lnTo>
                  <a:lnTo>
                    <a:pt x="0" y="71374"/>
                  </a:lnTo>
                  <a:close/>
                </a:path>
              </a:pathLst>
            </a:custGeom>
            <a:ln w="7620">
              <a:solidFill>
                <a:srgbClr val="F8EB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43778" y="2025904"/>
              <a:ext cx="510286" cy="5102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1152" y="2170959"/>
              <a:ext cx="175789" cy="22008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331967" y="2664967"/>
            <a:ext cx="2787015" cy="11271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spc="80" dirty="0">
                <a:solidFill>
                  <a:srgbClr val="2C2925"/>
                </a:solidFill>
                <a:latin typeface="Arial MT"/>
                <a:cs typeface="Arial MT"/>
              </a:rPr>
              <a:t>Financial</a:t>
            </a:r>
            <a:r>
              <a:rPr sz="1650" spc="-6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650" spc="60" dirty="0">
                <a:solidFill>
                  <a:srgbClr val="2C2925"/>
                </a:solidFill>
                <a:latin typeface="Arial MT"/>
                <a:cs typeface="Arial MT"/>
              </a:rPr>
              <a:t>Savings</a:t>
            </a:r>
            <a:endParaRPr sz="1650">
              <a:latin typeface="Arial MT"/>
              <a:cs typeface="Arial MT"/>
            </a:endParaRPr>
          </a:p>
          <a:p>
            <a:pPr marL="12700" marR="5080">
              <a:lnSpc>
                <a:spcPct val="128099"/>
              </a:lnSpc>
              <a:spcBef>
                <a:spcPts val="675"/>
              </a:spcBef>
            </a:pP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Understanding</a:t>
            </a:r>
            <a:r>
              <a:rPr sz="1300" spc="11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consumption</a:t>
            </a:r>
            <a:r>
              <a:rPr sz="1300" spc="10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patterns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helps</a:t>
            </a:r>
            <a:r>
              <a:rPr sz="1300" spc="6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identify</a:t>
            </a:r>
            <a:r>
              <a:rPr sz="1300" spc="6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wastage</a:t>
            </a:r>
            <a:r>
              <a:rPr sz="1300" spc="7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and</a:t>
            </a:r>
            <a:r>
              <a:rPr sz="1300" spc="7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reduce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electricity</a:t>
            </a:r>
            <a:r>
              <a:rPr sz="1300" spc="4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bills</a:t>
            </a:r>
            <a:r>
              <a:rPr sz="1300" spc="5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significantly.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454643" y="1845691"/>
            <a:ext cx="3145790" cy="2415540"/>
            <a:chOff x="8454643" y="1845691"/>
            <a:chExt cx="3145790" cy="2415540"/>
          </a:xfrm>
        </p:grpSpPr>
        <p:sp>
          <p:nvSpPr>
            <p:cNvPr id="10" name="object 10"/>
            <p:cNvSpPr/>
            <p:nvPr/>
          </p:nvSpPr>
          <p:spPr>
            <a:xfrm>
              <a:off x="8458453" y="1849501"/>
              <a:ext cx="3138170" cy="2407920"/>
            </a:xfrm>
            <a:custGeom>
              <a:avLst/>
              <a:gdLst/>
              <a:ahLst/>
              <a:cxnLst/>
              <a:rect l="l" t="t" r="r" b="b"/>
              <a:pathLst>
                <a:path w="3138170" h="2407920">
                  <a:moveTo>
                    <a:pt x="0" y="71374"/>
                  </a:moveTo>
                  <a:lnTo>
                    <a:pt x="5617" y="43559"/>
                  </a:lnTo>
                  <a:lnTo>
                    <a:pt x="20939" y="20875"/>
                  </a:lnTo>
                  <a:lnTo>
                    <a:pt x="43666" y="5597"/>
                  </a:lnTo>
                  <a:lnTo>
                    <a:pt x="71500" y="0"/>
                  </a:lnTo>
                  <a:lnTo>
                    <a:pt x="3066669" y="0"/>
                  </a:lnTo>
                  <a:lnTo>
                    <a:pt x="3094503" y="5597"/>
                  </a:lnTo>
                  <a:lnTo>
                    <a:pt x="3117230" y="20875"/>
                  </a:lnTo>
                  <a:lnTo>
                    <a:pt x="3132552" y="43559"/>
                  </a:lnTo>
                  <a:lnTo>
                    <a:pt x="3138170" y="71374"/>
                  </a:lnTo>
                  <a:lnTo>
                    <a:pt x="3138170" y="2336419"/>
                  </a:lnTo>
                  <a:lnTo>
                    <a:pt x="3132552" y="2364253"/>
                  </a:lnTo>
                  <a:lnTo>
                    <a:pt x="3117230" y="2386980"/>
                  </a:lnTo>
                  <a:lnTo>
                    <a:pt x="3094503" y="2402302"/>
                  </a:lnTo>
                  <a:lnTo>
                    <a:pt x="3066669" y="2407920"/>
                  </a:lnTo>
                  <a:lnTo>
                    <a:pt x="71500" y="2407920"/>
                  </a:lnTo>
                  <a:lnTo>
                    <a:pt x="43666" y="2402302"/>
                  </a:lnTo>
                  <a:lnTo>
                    <a:pt x="20939" y="2386980"/>
                  </a:lnTo>
                  <a:lnTo>
                    <a:pt x="5617" y="2364253"/>
                  </a:lnTo>
                  <a:lnTo>
                    <a:pt x="0" y="2336419"/>
                  </a:lnTo>
                  <a:lnTo>
                    <a:pt x="0" y="71374"/>
                  </a:lnTo>
                  <a:close/>
                </a:path>
              </a:pathLst>
            </a:custGeom>
            <a:ln w="7620">
              <a:solidFill>
                <a:srgbClr val="F8EB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34856" y="2025904"/>
              <a:ext cx="510285" cy="51028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18852" y="2170961"/>
              <a:ext cx="142536" cy="21535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623172" y="2664967"/>
            <a:ext cx="2705100" cy="11271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spc="80" dirty="0">
                <a:solidFill>
                  <a:srgbClr val="2C2925"/>
                </a:solidFill>
                <a:latin typeface="Arial MT"/>
                <a:cs typeface="Arial MT"/>
              </a:rPr>
              <a:t>Environmental</a:t>
            </a:r>
            <a:r>
              <a:rPr sz="1650" spc="-6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650" spc="90" dirty="0">
                <a:solidFill>
                  <a:srgbClr val="2C2925"/>
                </a:solidFill>
                <a:latin typeface="Arial MT"/>
                <a:cs typeface="Arial MT"/>
              </a:rPr>
              <a:t>Impact</a:t>
            </a:r>
            <a:endParaRPr sz="1650">
              <a:latin typeface="Arial MT"/>
              <a:cs typeface="Arial MT"/>
            </a:endParaRPr>
          </a:p>
          <a:p>
            <a:pPr marL="12700" marR="5080">
              <a:lnSpc>
                <a:spcPct val="128099"/>
              </a:lnSpc>
              <a:spcBef>
                <a:spcPts val="675"/>
              </a:spcBef>
            </a:pP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Lower</a:t>
            </a:r>
            <a:r>
              <a:rPr sz="1300" spc="9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energy</a:t>
            </a:r>
            <a:r>
              <a:rPr sz="1300" spc="7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consumption</a:t>
            </a:r>
            <a:r>
              <a:rPr sz="1300" spc="8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reduces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carbon</a:t>
            </a:r>
            <a:r>
              <a:rPr sz="1300" spc="6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footprint</a:t>
            </a:r>
            <a:r>
              <a:rPr sz="1300" spc="7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and</a:t>
            </a:r>
            <a:r>
              <a:rPr sz="1300" spc="7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supports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sustainable</a:t>
            </a:r>
            <a:r>
              <a:rPr sz="1300" spc="7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living</a:t>
            </a:r>
            <a:r>
              <a:rPr sz="1300" spc="5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practices.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163565" y="4406646"/>
            <a:ext cx="6436995" cy="1898650"/>
            <a:chOff x="5163565" y="4406646"/>
            <a:chExt cx="6436995" cy="1898650"/>
          </a:xfrm>
        </p:grpSpPr>
        <p:sp>
          <p:nvSpPr>
            <p:cNvPr id="15" name="object 15"/>
            <p:cNvSpPr/>
            <p:nvPr/>
          </p:nvSpPr>
          <p:spPr>
            <a:xfrm>
              <a:off x="5167375" y="4410456"/>
              <a:ext cx="6429375" cy="1891030"/>
            </a:xfrm>
            <a:custGeom>
              <a:avLst/>
              <a:gdLst/>
              <a:ahLst/>
              <a:cxnLst/>
              <a:rect l="l" t="t" r="r" b="b"/>
              <a:pathLst>
                <a:path w="6429375" h="1891029">
                  <a:moveTo>
                    <a:pt x="0" y="71501"/>
                  </a:moveTo>
                  <a:lnTo>
                    <a:pt x="5617" y="43666"/>
                  </a:lnTo>
                  <a:lnTo>
                    <a:pt x="20939" y="20939"/>
                  </a:lnTo>
                  <a:lnTo>
                    <a:pt x="43666" y="5617"/>
                  </a:lnTo>
                  <a:lnTo>
                    <a:pt x="71500" y="0"/>
                  </a:lnTo>
                  <a:lnTo>
                    <a:pt x="6357747" y="0"/>
                  </a:lnTo>
                  <a:lnTo>
                    <a:pt x="6385581" y="5617"/>
                  </a:lnTo>
                  <a:lnTo>
                    <a:pt x="6408308" y="20939"/>
                  </a:lnTo>
                  <a:lnTo>
                    <a:pt x="6423630" y="43666"/>
                  </a:lnTo>
                  <a:lnTo>
                    <a:pt x="6429248" y="71501"/>
                  </a:lnTo>
                  <a:lnTo>
                    <a:pt x="6429248" y="1819376"/>
                  </a:lnTo>
                  <a:lnTo>
                    <a:pt x="6423630" y="1847187"/>
                  </a:lnTo>
                  <a:lnTo>
                    <a:pt x="6408308" y="1869898"/>
                  </a:lnTo>
                  <a:lnTo>
                    <a:pt x="6385581" y="1885211"/>
                  </a:lnTo>
                  <a:lnTo>
                    <a:pt x="6357747" y="1890826"/>
                  </a:lnTo>
                  <a:lnTo>
                    <a:pt x="71500" y="1890826"/>
                  </a:lnTo>
                  <a:lnTo>
                    <a:pt x="43666" y="1885211"/>
                  </a:lnTo>
                  <a:lnTo>
                    <a:pt x="20939" y="1869898"/>
                  </a:lnTo>
                  <a:lnTo>
                    <a:pt x="5617" y="1847187"/>
                  </a:lnTo>
                  <a:lnTo>
                    <a:pt x="0" y="1819376"/>
                  </a:lnTo>
                  <a:lnTo>
                    <a:pt x="0" y="71501"/>
                  </a:lnTo>
                  <a:close/>
                </a:path>
              </a:pathLst>
            </a:custGeom>
            <a:ln w="7620">
              <a:solidFill>
                <a:srgbClr val="F8EB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43778" y="4586859"/>
              <a:ext cx="510286" cy="51028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22442" y="4732042"/>
              <a:ext cx="153038" cy="22002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331967" y="5226558"/>
            <a:ext cx="6063615" cy="87439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spc="90" dirty="0">
                <a:solidFill>
                  <a:srgbClr val="2C2925"/>
                </a:solidFill>
                <a:latin typeface="Arial MT"/>
                <a:cs typeface="Arial MT"/>
              </a:rPr>
              <a:t>Consumer</a:t>
            </a:r>
            <a:r>
              <a:rPr sz="1650" spc="-15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650" spc="80" dirty="0">
                <a:solidFill>
                  <a:srgbClr val="2C2925"/>
                </a:solidFill>
                <a:latin typeface="Arial MT"/>
                <a:cs typeface="Arial MT"/>
              </a:rPr>
              <a:t>Awareness</a:t>
            </a:r>
            <a:endParaRPr sz="1650">
              <a:latin typeface="Arial MT"/>
              <a:cs typeface="Arial MT"/>
            </a:endParaRPr>
          </a:p>
          <a:p>
            <a:pPr marL="12700" marR="5080">
              <a:lnSpc>
                <a:spcPct val="128499"/>
              </a:lnSpc>
              <a:spcBef>
                <a:spcPts val="670"/>
              </a:spcBef>
            </a:pP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Provides</a:t>
            </a:r>
            <a:r>
              <a:rPr sz="1300" spc="6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visibility</a:t>
            </a:r>
            <a:r>
              <a:rPr sz="1300" spc="7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into</a:t>
            </a:r>
            <a:r>
              <a:rPr sz="1300" spc="8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which</a:t>
            </a:r>
            <a:r>
              <a:rPr sz="1300" spc="7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appliances</a:t>
            </a:r>
            <a:r>
              <a:rPr sz="1300" spc="7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consume</a:t>
            </a:r>
            <a:r>
              <a:rPr sz="1300" spc="6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most</a:t>
            </a:r>
            <a:r>
              <a:rPr sz="1300" spc="8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power,</a:t>
            </a:r>
            <a:r>
              <a:rPr sz="1300" spc="12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enabling</a:t>
            </a:r>
            <a:r>
              <a:rPr sz="1300" spc="5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informed decisions.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65B17B-C3A3-1DAA-048C-F1E135A0161A}"/>
              </a:ext>
            </a:extLst>
          </p:cNvPr>
          <p:cNvSpPr/>
          <p:nvPr/>
        </p:nvSpPr>
        <p:spPr>
          <a:xfrm>
            <a:off x="10439400" y="6400800"/>
            <a:ext cx="1752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9020" y="507568"/>
            <a:ext cx="3924300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90" dirty="0"/>
              <a:t>Project</a:t>
            </a:r>
            <a:r>
              <a:rPr spc="-120" dirty="0"/>
              <a:t> </a:t>
            </a:r>
            <a:r>
              <a:rPr spc="155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9020" y="1192783"/>
            <a:ext cx="2603500" cy="305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114" dirty="0">
                <a:solidFill>
                  <a:srgbClr val="2C2925"/>
                </a:solidFill>
                <a:latin typeface="Arial MT"/>
                <a:cs typeface="Arial MT"/>
              </a:rPr>
              <a:t>How</a:t>
            </a:r>
            <a:r>
              <a:rPr sz="1800" spc="-45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2C2925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2C2925"/>
                </a:solidFill>
                <a:latin typeface="Arial MT"/>
                <a:cs typeface="Arial MT"/>
              </a:rPr>
              <a:t>System</a:t>
            </a:r>
            <a:r>
              <a:rPr sz="1800" spc="-5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2C2925"/>
                </a:solidFill>
                <a:latin typeface="Arial MT"/>
                <a:cs typeface="Arial MT"/>
              </a:rPr>
              <a:t>Works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7996" y="2716783"/>
            <a:ext cx="3952875" cy="7137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75" dirty="0">
                <a:solidFill>
                  <a:srgbClr val="2C2925"/>
                </a:solidFill>
                <a:latin typeface="Arial MT"/>
                <a:cs typeface="Arial MT"/>
              </a:rPr>
              <a:t>Data</a:t>
            </a:r>
            <a:r>
              <a:rPr sz="1800" spc="-2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2C2925"/>
                </a:solidFill>
                <a:latin typeface="Arial MT"/>
                <a:cs typeface="Arial MT"/>
              </a:rPr>
              <a:t>Input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Reads</a:t>
            </a:r>
            <a:r>
              <a:rPr sz="1450" spc="-4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appliance</a:t>
            </a:r>
            <a:r>
              <a:rPr sz="1450" spc="-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usage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data</a:t>
            </a:r>
            <a:r>
              <a:rPr sz="1450" spc="-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from</a:t>
            </a:r>
            <a:r>
              <a:rPr sz="14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structured</a:t>
            </a:r>
            <a:r>
              <a:rPr sz="1450" spc="-4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file</a:t>
            </a:r>
            <a:endParaRPr sz="145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492" y="1797545"/>
            <a:ext cx="10868964" cy="75604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273165" y="2716783"/>
            <a:ext cx="3451225" cy="7137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90" dirty="0">
                <a:solidFill>
                  <a:srgbClr val="2C2925"/>
                </a:solidFill>
                <a:latin typeface="Arial MT"/>
                <a:cs typeface="Arial MT"/>
              </a:rPr>
              <a:t>Processing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Calculates</a:t>
            </a:r>
            <a:r>
              <a:rPr sz="1450" spc="-5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energy</a:t>
            </a:r>
            <a:r>
              <a:rPr sz="1450" spc="-4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consumption</a:t>
            </a:r>
            <a:r>
              <a:rPr sz="1450" spc="-5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and</a:t>
            </a:r>
            <a:r>
              <a:rPr sz="1450" spc="-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costs</a:t>
            </a:r>
            <a:endParaRPr sz="14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7996" y="4562348"/>
            <a:ext cx="2673350" cy="7137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80" dirty="0">
                <a:solidFill>
                  <a:srgbClr val="2C2925"/>
                </a:solidFill>
                <a:latin typeface="Arial MT"/>
                <a:cs typeface="Arial MT"/>
              </a:rPr>
              <a:t>Analysis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Identifies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high-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usage</a:t>
            </a:r>
            <a:r>
              <a:rPr sz="1450" spc="-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appliances</a:t>
            </a:r>
            <a:endParaRPr sz="145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1492" y="3642728"/>
            <a:ext cx="10868964" cy="75604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273165" y="4562348"/>
            <a:ext cx="2691765" cy="7137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85" dirty="0">
                <a:solidFill>
                  <a:srgbClr val="2C2925"/>
                </a:solidFill>
                <a:latin typeface="Arial MT"/>
                <a:cs typeface="Arial MT"/>
              </a:rPr>
              <a:t>Recommendations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Suggests</a:t>
            </a:r>
            <a:r>
              <a:rPr sz="1450" spc="-4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optimization</a:t>
            </a:r>
            <a:r>
              <a:rPr sz="1450" spc="-5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strategies</a:t>
            </a:r>
            <a:endParaRPr sz="14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9020" y="5649569"/>
            <a:ext cx="10285730" cy="635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8100"/>
              </a:lnSpc>
              <a:spcBef>
                <a:spcPts val="95"/>
              </a:spcBef>
            </a:pP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The</a:t>
            </a:r>
            <a:r>
              <a:rPr sz="14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program</a:t>
            </a:r>
            <a:r>
              <a:rPr sz="14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processes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appliance-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level</a:t>
            </a:r>
            <a:r>
              <a:rPr sz="14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energy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data</a:t>
            </a:r>
            <a:r>
              <a:rPr sz="1450" spc="-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stored</a:t>
            </a:r>
            <a:r>
              <a:rPr sz="1450" spc="-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in</a:t>
            </a:r>
            <a:r>
              <a:rPr sz="1450" spc="1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</a:t>
            </a:r>
            <a:r>
              <a:rPr sz="1450" spc="1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file,</a:t>
            </a:r>
            <a:r>
              <a:rPr sz="1450" spc="-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performs</a:t>
            </a:r>
            <a:r>
              <a:rPr sz="14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calculations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to determine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total</a:t>
            </a:r>
            <a:r>
              <a:rPr sz="1450" spc="-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consumption</a:t>
            </a:r>
            <a:r>
              <a:rPr sz="14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 and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associated</a:t>
            </a:r>
            <a:r>
              <a:rPr sz="1450" spc="-4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costs,</a:t>
            </a:r>
            <a:r>
              <a:rPr sz="1450" spc="-5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then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analyzes</a:t>
            </a:r>
            <a:r>
              <a:rPr sz="1450" spc="-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patterns</a:t>
            </a:r>
            <a:r>
              <a:rPr sz="1450" spc="-4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to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suggest</a:t>
            </a:r>
            <a:r>
              <a:rPr sz="1450" spc="-4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reduction</a:t>
            </a:r>
            <a:r>
              <a:rPr sz="14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strategies.</a:t>
            </a:r>
            <a:endParaRPr sz="1450">
              <a:latin typeface="Microsoft Sans Serif"/>
              <a:cs typeface="Microsoft Sans Serif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EFD75A-6A34-A994-9419-7E74C71E02D1}"/>
              </a:ext>
            </a:extLst>
          </p:cNvPr>
          <p:cNvSpPr/>
          <p:nvPr/>
        </p:nvSpPr>
        <p:spPr>
          <a:xfrm>
            <a:off x="10439400" y="6400800"/>
            <a:ext cx="1752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9020" y="1209548"/>
            <a:ext cx="4215130" cy="590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90" dirty="0"/>
              <a:t>Project</a:t>
            </a:r>
            <a:r>
              <a:rPr spc="-110" dirty="0"/>
              <a:t> </a:t>
            </a:r>
            <a:r>
              <a:rPr spc="165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9020" y="2123817"/>
            <a:ext cx="5320030" cy="3318510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450" spc="-25" dirty="0">
                <a:solidFill>
                  <a:srgbClr val="2C2925"/>
                </a:solidFill>
                <a:latin typeface="Calibri"/>
                <a:cs typeface="Calibri"/>
              </a:rPr>
              <a:t>01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800" spc="105" dirty="0">
                <a:solidFill>
                  <a:srgbClr val="2C2925"/>
                </a:solidFill>
                <a:latin typeface="Arial MT"/>
                <a:cs typeface="Arial MT"/>
              </a:rPr>
              <a:t>Monitor</a:t>
            </a:r>
            <a:r>
              <a:rPr sz="180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2C2925"/>
                </a:solidFill>
                <a:latin typeface="Arial MT"/>
                <a:cs typeface="Arial MT"/>
              </a:rPr>
              <a:t>Energy</a:t>
            </a:r>
            <a:r>
              <a:rPr sz="1800" spc="-35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2C2925"/>
                </a:solidFill>
                <a:latin typeface="Arial MT"/>
                <a:cs typeface="Arial MT"/>
              </a:rPr>
              <a:t>Usage</a:t>
            </a:r>
            <a:endParaRPr sz="1800">
              <a:latin typeface="Arial MT"/>
              <a:cs typeface="Arial MT"/>
            </a:endParaRPr>
          </a:p>
          <a:p>
            <a:pPr marL="12700" marR="128905">
              <a:lnSpc>
                <a:spcPct val="137900"/>
              </a:lnSpc>
              <a:spcBef>
                <a:spcPts val="825"/>
              </a:spcBef>
            </a:pP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Track</a:t>
            </a:r>
            <a:r>
              <a:rPr sz="1450" spc="-5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power</a:t>
            </a:r>
            <a:r>
              <a:rPr sz="1450" spc="-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consumption</a:t>
            </a:r>
            <a:r>
              <a:rPr sz="1450" spc="-4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across</a:t>
            </a:r>
            <a:r>
              <a:rPr sz="14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all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household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appliances</a:t>
            </a:r>
            <a:r>
              <a:rPr sz="1450" spc="-3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with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detailed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logging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85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450" spc="-25" dirty="0">
                <a:solidFill>
                  <a:srgbClr val="2C2925"/>
                </a:solidFill>
                <a:latin typeface="Calibri"/>
                <a:cs typeface="Calibri"/>
              </a:rPr>
              <a:t>03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800" spc="100" dirty="0">
                <a:solidFill>
                  <a:srgbClr val="2C2925"/>
                </a:solidFill>
                <a:latin typeface="Arial MT"/>
                <a:cs typeface="Arial MT"/>
              </a:rPr>
              <a:t>Identify</a:t>
            </a:r>
            <a:r>
              <a:rPr sz="1800" spc="-1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2C2925"/>
                </a:solidFill>
                <a:latin typeface="Arial MT"/>
                <a:cs typeface="Arial MT"/>
              </a:rPr>
              <a:t>High-</a:t>
            </a:r>
            <a:r>
              <a:rPr sz="1800" spc="100" dirty="0">
                <a:solidFill>
                  <a:srgbClr val="2C2925"/>
                </a:solidFill>
                <a:latin typeface="Arial MT"/>
                <a:cs typeface="Arial MT"/>
              </a:rPr>
              <a:t>Consumption</a:t>
            </a:r>
            <a:r>
              <a:rPr sz="1800" spc="55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2C2925"/>
                </a:solidFill>
                <a:latin typeface="Arial MT"/>
                <a:cs typeface="Arial MT"/>
              </a:rPr>
              <a:t>Appliances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Flag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devices</a:t>
            </a:r>
            <a:r>
              <a:rPr sz="1450" spc="-3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that</a:t>
            </a:r>
            <a:r>
              <a:rPr sz="1450" spc="-3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consume</a:t>
            </a:r>
            <a:r>
              <a:rPr sz="1450" spc="-4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excessive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power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and</a:t>
            </a:r>
            <a:r>
              <a:rPr sz="1450" spc="-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contribute</a:t>
            </a:r>
            <a:r>
              <a:rPr sz="1450" spc="-4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most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to</a:t>
            </a:r>
            <a:r>
              <a:rPr sz="1450" spc="-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bills</a:t>
            </a:r>
            <a:endParaRPr sz="14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78677" y="2252852"/>
            <a:ext cx="214629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25" dirty="0">
                <a:solidFill>
                  <a:srgbClr val="2C2925"/>
                </a:solidFill>
                <a:latin typeface="Calibri"/>
                <a:cs typeface="Calibri"/>
              </a:rPr>
              <a:t>02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78677" y="2637789"/>
            <a:ext cx="5139055" cy="10185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95" dirty="0">
                <a:solidFill>
                  <a:srgbClr val="2C2925"/>
                </a:solidFill>
                <a:latin typeface="Arial MT"/>
                <a:cs typeface="Arial MT"/>
              </a:rPr>
              <a:t>Calculate</a:t>
            </a:r>
            <a:r>
              <a:rPr sz="1800" spc="-5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2C2925"/>
                </a:solidFill>
                <a:latin typeface="Arial MT"/>
                <a:cs typeface="Arial MT"/>
              </a:rPr>
              <a:t>Consumption</a:t>
            </a:r>
            <a:r>
              <a:rPr sz="1800" spc="25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190" dirty="0">
                <a:solidFill>
                  <a:srgbClr val="2C2925"/>
                </a:solidFill>
                <a:latin typeface="Arial MT"/>
                <a:cs typeface="Arial MT"/>
              </a:rPr>
              <a:t>&amp;</a:t>
            </a:r>
            <a:r>
              <a:rPr sz="1800" spc="-3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2C2925"/>
                </a:solidFill>
                <a:latin typeface="Arial MT"/>
                <a:cs typeface="Arial MT"/>
              </a:rPr>
              <a:t>Cost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37900"/>
              </a:lnSpc>
              <a:spcBef>
                <a:spcPts val="819"/>
              </a:spcBef>
            </a:pP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Determine</a:t>
            </a:r>
            <a:r>
              <a:rPr sz="1450" spc="-3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total</a:t>
            </a:r>
            <a:r>
              <a:rPr sz="1450" spc="-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energy</a:t>
            </a:r>
            <a:r>
              <a:rPr sz="1450" spc="-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usage in</a:t>
            </a:r>
            <a:r>
              <a:rPr sz="1450" spc="1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kilowatt-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hours</a:t>
            </a:r>
            <a:r>
              <a:rPr sz="1450" spc="-4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and</a:t>
            </a:r>
            <a:r>
              <a:rPr sz="1450" spc="1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associated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monetary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expenses</a:t>
            </a:r>
            <a:endParaRPr sz="14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78677" y="4038726"/>
            <a:ext cx="214629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25" dirty="0">
                <a:solidFill>
                  <a:srgbClr val="2C2925"/>
                </a:solidFill>
                <a:latin typeface="Calibri"/>
                <a:cs typeface="Calibri"/>
              </a:rPr>
              <a:t>04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78677" y="4423105"/>
            <a:ext cx="5163185" cy="1019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85" dirty="0">
                <a:solidFill>
                  <a:srgbClr val="2C2925"/>
                </a:solidFill>
                <a:latin typeface="Arial MT"/>
                <a:cs typeface="Arial MT"/>
              </a:rPr>
              <a:t>Reduce</a:t>
            </a:r>
            <a:r>
              <a:rPr sz="1800" spc="-35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2C2925"/>
                </a:solidFill>
                <a:latin typeface="Arial MT"/>
                <a:cs typeface="Arial MT"/>
              </a:rPr>
              <a:t>Energy</a:t>
            </a:r>
            <a:r>
              <a:rPr sz="1800" spc="-3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2C2925"/>
                </a:solidFill>
                <a:latin typeface="Arial MT"/>
                <a:cs typeface="Arial MT"/>
              </a:rPr>
              <a:t>Wastage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Provide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actionable</a:t>
            </a:r>
            <a:r>
              <a:rPr sz="1450" spc="-5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recommendations</a:t>
            </a:r>
            <a:r>
              <a:rPr sz="1450" spc="-6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to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minimize</a:t>
            </a:r>
            <a:r>
              <a:rPr sz="1450" spc="-5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unnecessary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consumption</a:t>
            </a:r>
            <a:endParaRPr sz="1450">
              <a:latin typeface="Microsoft Sans Serif"/>
              <a:cs typeface="Microsoft Sans Serif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378927-A22A-46DE-488A-C2C27E2AD129}"/>
              </a:ext>
            </a:extLst>
          </p:cNvPr>
          <p:cNvSpPr/>
          <p:nvPr/>
        </p:nvSpPr>
        <p:spPr>
          <a:xfrm>
            <a:off x="10439400" y="6400800"/>
            <a:ext cx="1752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1400" y="-1"/>
            <a:ext cx="48006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837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110"/>
              </a:spcBef>
            </a:pPr>
            <a:r>
              <a:rPr spc="150" dirty="0"/>
              <a:t>Problem</a:t>
            </a:r>
            <a:r>
              <a:rPr spc="-105" dirty="0"/>
              <a:t> </a:t>
            </a:r>
            <a:r>
              <a:rPr spc="155" dirty="0"/>
              <a:t>Statement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36092" y="1498219"/>
            <a:ext cx="6337935" cy="1473200"/>
            <a:chOff x="636092" y="1498219"/>
            <a:chExt cx="6337935" cy="1473200"/>
          </a:xfrm>
        </p:grpSpPr>
        <p:sp>
          <p:nvSpPr>
            <p:cNvPr id="5" name="object 5"/>
            <p:cNvSpPr/>
            <p:nvPr/>
          </p:nvSpPr>
          <p:spPr>
            <a:xfrm>
              <a:off x="661492" y="1513459"/>
              <a:ext cx="6297295" cy="1442720"/>
            </a:xfrm>
            <a:custGeom>
              <a:avLst/>
              <a:gdLst/>
              <a:ahLst/>
              <a:cxnLst/>
              <a:rect l="l" t="t" r="r" b="b"/>
              <a:pathLst>
                <a:path w="6297295" h="1442720">
                  <a:moveTo>
                    <a:pt x="0" y="121919"/>
                  </a:moveTo>
                  <a:lnTo>
                    <a:pt x="9580" y="74473"/>
                  </a:lnTo>
                  <a:lnTo>
                    <a:pt x="35709" y="35718"/>
                  </a:lnTo>
                  <a:lnTo>
                    <a:pt x="74462" y="9584"/>
                  </a:lnTo>
                  <a:lnTo>
                    <a:pt x="121920" y="0"/>
                  </a:lnTo>
                  <a:lnTo>
                    <a:pt x="6175044" y="0"/>
                  </a:lnTo>
                  <a:lnTo>
                    <a:pt x="6222544" y="9584"/>
                  </a:lnTo>
                  <a:lnTo>
                    <a:pt x="6261293" y="35718"/>
                  </a:lnTo>
                  <a:lnTo>
                    <a:pt x="6287398" y="74473"/>
                  </a:lnTo>
                  <a:lnTo>
                    <a:pt x="6296964" y="121919"/>
                  </a:lnTo>
                  <a:lnTo>
                    <a:pt x="6296964" y="1320418"/>
                  </a:lnTo>
                  <a:lnTo>
                    <a:pt x="6287398" y="1367865"/>
                  </a:lnTo>
                  <a:lnTo>
                    <a:pt x="6261293" y="1406620"/>
                  </a:lnTo>
                  <a:lnTo>
                    <a:pt x="6222544" y="1432754"/>
                  </a:lnTo>
                  <a:lnTo>
                    <a:pt x="6175044" y="1442339"/>
                  </a:lnTo>
                  <a:lnTo>
                    <a:pt x="121920" y="1442339"/>
                  </a:lnTo>
                  <a:lnTo>
                    <a:pt x="74462" y="1432754"/>
                  </a:lnTo>
                  <a:lnTo>
                    <a:pt x="35709" y="1406620"/>
                  </a:lnTo>
                  <a:lnTo>
                    <a:pt x="9580" y="1367865"/>
                  </a:lnTo>
                  <a:lnTo>
                    <a:pt x="0" y="1320418"/>
                  </a:lnTo>
                  <a:lnTo>
                    <a:pt x="0" y="121919"/>
                  </a:lnTo>
                  <a:close/>
                </a:path>
              </a:pathLst>
            </a:custGeom>
            <a:ln w="30480">
              <a:solidFill>
                <a:srgbClr val="E7B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6092" y="1513459"/>
              <a:ext cx="101600" cy="1442720"/>
            </a:xfrm>
            <a:custGeom>
              <a:avLst/>
              <a:gdLst/>
              <a:ahLst/>
              <a:cxnLst/>
              <a:rect l="l" t="t" r="r" b="b"/>
              <a:pathLst>
                <a:path w="101600" h="1442720">
                  <a:moveTo>
                    <a:pt x="50800" y="0"/>
                  </a:moveTo>
                  <a:lnTo>
                    <a:pt x="31027" y="3990"/>
                  </a:lnTo>
                  <a:lnTo>
                    <a:pt x="14879" y="14874"/>
                  </a:lnTo>
                  <a:lnTo>
                    <a:pt x="3992" y="31021"/>
                  </a:lnTo>
                  <a:lnTo>
                    <a:pt x="0" y="50800"/>
                  </a:lnTo>
                  <a:lnTo>
                    <a:pt x="0" y="1391539"/>
                  </a:lnTo>
                  <a:lnTo>
                    <a:pt x="3992" y="1411317"/>
                  </a:lnTo>
                  <a:lnTo>
                    <a:pt x="14879" y="1427464"/>
                  </a:lnTo>
                  <a:lnTo>
                    <a:pt x="31027" y="1438348"/>
                  </a:lnTo>
                  <a:lnTo>
                    <a:pt x="50800" y="1442339"/>
                  </a:lnTo>
                  <a:lnTo>
                    <a:pt x="70572" y="1438348"/>
                  </a:lnTo>
                  <a:lnTo>
                    <a:pt x="86720" y="1427464"/>
                  </a:lnTo>
                  <a:lnTo>
                    <a:pt x="97607" y="1411317"/>
                  </a:lnTo>
                  <a:lnTo>
                    <a:pt x="101600" y="1391539"/>
                  </a:lnTo>
                  <a:lnTo>
                    <a:pt x="101600" y="50800"/>
                  </a:lnTo>
                  <a:lnTo>
                    <a:pt x="97607" y="31021"/>
                  </a:lnTo>
                  <a:lnTo>
                    <a:pt x="86720" y="14874"/>
                  </a:lnTo>
                  <a:lnTo>
                    <a:pt x="70572" y="399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E7B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39495" y="1701799"/>
            <a:ext cx="5227955" cy="1019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105" dirty="0">
                <a:solidFill>
                  <a:srgbClr val="2C2925"/>
                </a:solidFill>
                <a:latin typeface="Arial MT"/>
                <a:cs typeface="Arial MT"/>
              </a:rPr>
              <a:t>Lack</a:t>
            </a:r>
            <a:r>
              <a:rPr sz="1800" spc="-3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2C2925"/>
                </a:solidFill>
                <a:latin typeface="Arial MT"/>
                <a:cs typeface="Arial MT"/>
              </a:rPr>
              <a:t>of</a:t>
            </a:r>
            <a:r>
              <a:rPr sz="1800" spc="20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2C2925"/>
                </a:solidFill>
                <a:latin typeface="Arial MT"/>
                <a:cs typeface="Arial MT"/>
              </a:rPr>
              <a:t>Appliance-</a:t>
            </a:r>
            <a:r>
              <a:rPr sz="1800" spc="70" dirty="0">
                <a:solidFill>
                  <a:srgbClr val="2C2925"/>
                </a:solidFill>
                <a:latin typeface="Arial MT"/>
                <a:cs typeface="Arial MT"/>
              </a:rPr>
              <a:t>Level</a:t>
            </a:r>
            <a:r>
              <a:rPr sz="1800" spc="-35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2C2925"/>
                </a:solidFill>
                <a:latin typeface="Arial MT"/>
                <a:cs typeface="Arial MT"/>
              </a:rPr>
              <a:t>Awareness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38100"/>
              </a:lnSpc>
              <a:spcBef>
                <a:spcPts val="815"/>
              </a:spcBef>
            </a:pP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Consumers</a:t>
            </a:r>
            <a:r>
              <a:rPr sz="1450" spc="-4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don't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know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which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devices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consume</a:t>
            </a:r>
            <a:r>
              <a:rPr sz="1450" spc="-4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most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electricity,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making</a:t>
            </a:r>
            <a:r>
              <a:rPr sz="1450" spc="-5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optimization</a:t>
            </a:r>
            <a:r>
              <a:rPr sz="1450" spc="-5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difficult.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36092" y="3129660"/>
            <a:ext cx="6337935" cy="1473200"/>
            <a:chOff x="636092" y="3129660"/>
            <a:chExt cx="6337935" cy="1473200"/>
          </a:xfrm>
        </p:grpSpPr>
        <p:sp>
          <p:nvSpPr>
            <p:cNvPr id="9" name="object 9"/>
            <p:cNvSpPr/>
            <p:nvPr/>
          </p:nvSpPr>
          <p:spPr>
            <a:xfrm>
              <a:off x="661492" y="3144900"/>
              <a:ext cx="6297295" cy="1442720"/>
            </a:xfrm>
            <a:custGeom>
              <a:avLst/>
              <a:gdLst/>
              <a:ahLst/>
              <a:cxnLst/>
              <a:rect l="l" t="t" r="r" b="b"/>
              <a:pathLst>
                <a:path w="6297295" h="1442720">
                  <a:moveTo>
                    <a:pt x="0" y="121793"/>
                  </a:moveTo>
                  <a:lnTo>
                    <a:pt x="9580" y="74366"/>
                  </a:lnTo>
                  <a:lnTo>
                    <a:pt x="35709" y="35655"/>
                  </a:lnTo>
                  <a:lnTo>
                    <a:pt x="74462" y="9564"/>
                  </a:lnTo>
                  <a:lnTo>
                    <a:pt x="121920" y="0"/>
                  </a:lnTo>
                  <a:lnTo>
                    <a:pt x="6175044" y="0"/>
                  </a:lnTo>
                  <a:lnTo>
                    <a:pt x="6222544" y="9564"/>
                  </a:lnTo>
                  <a:lnTo>
                    <a:pt x="6261293" y="35655"/>
                  </a:lnTo>
                  <a:lnTo>
                    <a:pt x="6287398" y="74366"/>
                  </a:lnTo>
                  <a:lnTo>
                    <a:pt x="6296964" y="121793"/>
                  </a:lnTo>
                  <a:lnTo>
                    <a:pt x="6296964" y="1320419"/>
                  </a:lnTo>
                  <a:lnTo>
                    <a:pt x="6287398" y="1367865"/>
                  </a:lnTo>
                  <a:lnTo>
                    <a:pt x="6261293" y="1406620"/>
                  </a:lnTo>
                  <a:lnTo>
                    <a:pt x="6222544" y="1432754"/>
                  </a:lnTo>
                  <a:lnTo>
                    <a:pt x="6175044" y="1442339"/>
                  </a:lnTo>
                  <a:lnTo>
                    <a:pt x="121920" y="1442339"/>
                  </a:lnTo>
                  <a:lnTo>
                    <a:pt x="74462" y="1432754"/>
                  </a:lnTo>
                  <a:lnTo>
                    <a:pt x="35709" y="1406620"/>
                  </a:lnTo>
                  <a:lnTo>
                    <a:pt x="9580" y="1367865"/>
                  </a:lnTo>
                  <a:lnTo>
                    <a:pt x="0" y="1320419"/>
                  </a:lnTo>
                  <a:lnTo>
                    <a:pt x="0" y="121793"/>
                  </a:lnTo>
                  <a:close/>
                </a:path>
              </a:pathLst>
            </a:custGeom>
            <a:ln w="30480">
              <a:solidFill>
                <a:srgbClr val="DFAB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6092" y="3144900"/>
              <a:ext cx="101600" cy="1442720"/>
            </a:xfrm>
            <a:custGeom>
              <a:avLst/>
              <a:gdLst/>
              <a:ahLst/>
              <a:cxnLst/>
              <a:rect l="l" t="t" r="r" b="b"/>
              <a:pathLst>
                <a:path w="101600" h="1442720">
                  <a:moveTo>
                    <a:pt x="50800" y="0"/>
                  </a:moveTo>
                  <a:lnTo>
                    <a:pt x="31027" y="3990"/>
                  </a:lnTo>
                  <a:lnTo>
                    <a:pt x="14879" y="14874"/>
                  </a:lnTo>
                  <a:lnTo>
                    <a:pt x="3992" y="31021"/>
                  </a:lnTo>
                  <a:lnTo>
                    <a:pt x="0" y="50800"/>
                  </a:lnTo>
                  <a:lnTo>
                    <a:pt x="0" y="1391539"/>
                  </a:lnTo>
                  <a:lnTo>
                    <a:pt x="3992" y="1411263"/>
                  </a:lnTo>
                  <a:lnTo>
                    <a:pt x="14879" y="1427416"/>
                  </a:lnTo>
                  <a:lnTo>
                    <a:pt x="31027" y="1438330"/>
                  </a:lnTo>
                  <a:lnTo>
                    <a:pt x="50800" y="1442339"/>
                  </a:lnTo>
                  <a:lnTo>
                    <a:pt x="70572" y="1438330"/>
                  </a:lnTo>
                  <a:lnTo>
                    <a:pt x="86720" y="1427416"/>
                  </a:lnTo>
                  <a:lnTo>
                    <a:pt x="97607" y="1411263"/>
                  </a:lnTo>
                  <a:lnTo>
                    <a:pt x="101600" y="1391539"/>
                  </a:lnTo>
                  <a:lnTo>
                    <a:pt x="101600" y="50800"/>
                  </a:lnTo>
                  <a:lnTo>
                    <a:pt x="97607" y="31021"/>
                  </a:lnTo>
                  <a:lnTo>
                    <a:pt x="86720" y="14874"/>
                  </a:lnTo>
                  <a:lnTo>
                    <a:pt x="70572" y="399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DFAB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39495" y="3333063"/>
            <a:ext cx="5709285" cy="1019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95" dirty="0">
                <a:solidFill>
                  <a:srgbClr val="2C2925"/>
                </a:solidFill>
                <a:latin typeface="Arial MT"/>
                <a:cs typeface="Arial MT"/>
              </a:rPr>
              <a:t>Escalating</a:t>
            </a:r>
            <a:r>
              <a:rPr sz="1800" spc="5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114" dirty="0">
                <a:solidFill>
                  <a:srgbClr val="2C2925"/>
                </a:solidFill>
                <a:latin typeface="Arial MT"/>
                <a:cs typeface="Arial MT"/>
              </a:rPr>
              <a:t>Electricity</a:t>
            </a:r>
            <a:r>
              <a:rPr sz="180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2C2925"/>
                </a:solidFill>
                <a:latin typeface="Arial MT"/>
                <a:cs typeface="Arial MT"/>
              </a:rPr>
              <a:t>Bills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37900"/>
              </a:lnSpc>
              <a:spcBef>
                <a:spcPts val="825"/>
              </a:spcBef>
            </a:pP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Without</a:t>
            </a:r>
            <a:r>
              <a:rPr sz="1450" spc="-4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monitoring,</a:t>
            </a:r>
            <a:r>
              <a:rPr sz="1450" spc="-4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households</a:t>
            </a:r>
            <a:r>
              <a:rPr sz="1450" spc="-4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face</a:t>
            </a:r>
            <a:r>
              <a:rPr sz="1450" spc="-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continuously</a:t>
            </a:r>
            <a:r>
              <a:rPr sz="1450" spc="-4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rising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costs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without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understanding</a:t>
            </a:r>
            <a:r>
              <a:rPr sz="1450" spc="-7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causes.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36092" y="4760976"/>
            <a:ext cx="6337935" cy="1473200"/>
            <a:chOff x="636092" y="4760976"/>
            <a:chExt cx="6337935" cy="1473200"/>
          </a:xfrm>
        </p:grpSpPr>
        <p:sp>
          <p:nvSpPr>
            <p:cNvPr id="13" name="object 13"/>
            <p:cNvSpPr/>
            <p:nvPr/>
          </p:nvSpPr>
          <p:spPr>
            <a:xfrm>
              <a:off x="661492" y="4776216"/>
              <a:ext cx="6297295" cy="1442720"/>
            </a:xfrm>
            <a:custGeom>
              <a:avLst/>
              <a:gdLst/>
              <a:ahLst/>
              <a:cxnLst/>
              <a:rect l="l" t="t" r="r" b="b"/>
              <a:pathLst>
                <a:path w="6297295" h="1442720">
                  <a:moveTo>
                    <a:pt x="0" y="121919"/>
                  </a:moveTo>
                  <a:lnTo>
                    <a:pt x="9580" y="74473"/>
                  </a:lnTo>
                  <a:lnTo>
                    <a:pt x="35709" y="35718"/>
                  </a:lnTo>
                  <a:lnTo>
                    <a:pt x="74462" y="9584"/>
                  </a:lnTo>
                  <a:lnTo>
                    <a:pt x="121920" y="0"/>
                  </a:lnTo>
                  <a:lnTo>
                    <a:pt x="6175044" y="0"/>
                  </a:lnTo>
                  <a:lnTo>
                    <a:pt x="6222544" y="9584"/>
                  </a:lnTo>
                  <a:lnTo>
                    <a:pt x="6261293" y="35718"/>
                  </a:lnTo>
                  <a:lnTo>
                    <a:pt x="6287398" y="74473"/>
                  </a:lnTo>
                  <a:lnTo>
                    <a:pt x="6296964" y="121919"/>
                  </a:lnTo>
                  <a:lnTo>
                    <a:pt x="6296964" y="1320406"/>
                  </a:lnTo>
                  <a:lnTo>
                    <a:pt x="6287398" y="1367856"/>
                  </a:lnTo>
                  <a:lnTo>
                    <a:pt x="6261293" y="1406605"/>
                  </a:lnTo>
                  <a:lnTo>
                    <a:pt x="6222544" y="1432732"/>
                  </a:lnTo>
                  <a:lnTo>
                    <a:pt x="6175044" y="1442313"/>
                  </a:lnTo>
                  <a:lnTo>
                    <a:pt x="121920" y="1442313"/>
                  </a:lnTo>
                  <a:lnTo>
                    <a:pt x="74462" y="1432732"/>
                  </a:lnTo>
                  <a:lnTo>
                    <a:pt x="35709" y="1406605"/>
                  </a:lnTo>
                  <a:lnTo>
                    <a:pt x="9580" y="1367856"/>
                  </a:lnTo>
                  <a:lnTo>
                    <a:pt x="0" y="1320406"/>
                  </a:lnTo>
                  <a:lnTo>
                    <a:pt x="0" y="121919"/>
                  </a:lnTo>
                  <a:close/>
                </a:path>
              </a:pathLst>
            </a:custGeom>
            <a:ln w="30480">
              <a:solidFill>
                <a:srgbClr val="EBCC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6092" y="4776216"/>
              <a:ext cx="101600" cy="1442720"/>
            </a:xfrm>
            <a:custGeom>
              <a:avLst/>
              <a:gdLst/>
              <a:ahLst/>
              <a:cxnLst/>
              <a:rect l="l" t="t" r="r" b="b"/>
              <a:pathLst>
                <a:path w="101600" h="1442720">
                  <a:moveTo>
                    <a:pt x="50800" y="0"/>
                  </a:moveTo>
                  <a:lnTo>
                    <a:pt x="31027" y="3990"/>
                  </a:lnTo>
                  <a:lnTo>
                    <a:pt x="14879" y="14874"/>
                  </a:lnTo>
                  <a:lnTo>
                    <a:pt x="3992" y="31021"/>
                  </a:lnTo>
                  <a:lnTo>
                    <a:pt x="0" y="50799"/>
                  </a:lnTo>
                  <a:lnTo>
                    <a:pt x="2" y="1391526"/>
                  </a:lnTo>
                  <a:lnTo>
                    <a:pt x="3997" y="1411299"/>
                  </a:lnTo>
                  <a:lnTo>
                    <a:pt x="14891" y="1427446"/>
                  </a:lnTo>
                  <a:lnTo>
                    <a:pt x="31080" y="1438333"/>
                  </a:lnTo>
                  <a:lnTo>
                    <a:pt x="50800" y="1442326"/>
                  </a:lnTo>
                  <a:lnTo>
                    <a:pt x="70572" y="1438333"/>
                  </a:lnTo>
                  <a:lnTo>
                    <a:pt x="86720" y="1427446"/>
                  </a:lnTo>
                  <a:lnTo>
                    <a:pt x="97607" y="1411299"/>
                  </a:lnTo>
                  <a:lnTo>
                    <a:pt x="101600" y="1391526"/>
                  </a:lnTo>
                  <a:lnTo>
                    <a:pt x="101600" y="50799"/>
                  </a:lnTo>
                  <a:lnTo>
                    <a:pt x="97607" y="31021"/>
                  </a:lnTo>
                  <a:lnTo>
                    <a:pt x="86720" y="14874"/>
                  </a:lnTo>
                  <a:lnTo>
                    <a:pt x="70572" y="399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EBCC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39495" y="4965319"/>
            <a:ext cx="5579110" cy="10185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114" dirty="0">
                <a:solidFill>
                  <a:srgbClr val="2C2925"/>
                </a:solidFill>
                <a:latin typeface="Arial MT"/>
                <a:cs typeface="Arial MT"/>
              </a:rPr>
              <a:t>Absence</a:t>
            </a:r>
            <a:r>
              <a:rPr sz="1800" spc="-55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2C2925"/>
                </a:solidFill>
                <a:latin typeface="Arial MT"/>
                <a:cs typeface="Arial MT"/>
              </a:rPr>
              <a:t>of</a:t>
            </a:r>
            <a:r>
              <a:rPr sz="1800" spc="17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2C2925"/>
                </a:solidFill>
                <a:latin typeface="Arial MT"/>
                <a:cs typeface="Arial MT"/>
              </a:rPr>
              <a:t>Simple</a:t>
            </a:r>
            <a:r>
              <a:rPr sz="1800" spc="-2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2C2925"/>
                </a:solidFill>
                <a:latin typeface="Arial MT"/>
                <a:cs typeface="Arial MT"/>
              </a:rPr>
              <a:t>Monitoring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37900"/>
              </a:lnSpc>
              <a:spcBef>
                <a:spcPts val="819"/>
              </a:spcBef>
            </a:pP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Existing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solutions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are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complex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or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expensive,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preventing</a:t>
            </a:r>
            <a:r>
              <a:rPr sz="1450" spc="-4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widespread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adoption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by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average</a:t>
            </a:r>
            <a:r>
              <a:rPr sz="14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users.</a:t>
            </a:r>
            <a:endParaRPr sz="1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9020" y="1335150"/>
            <a:ext cx="5434965" cy="590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75" dirty="0"/>
              <a:t>Methodology</a:t>
            </a:r>
            <a:r>
              <a:rPr spc="-135" dirty="0"/>
              <a:t> </a:t>
            </a:r>
            <a:r>
              <a:rPr spc="340" dirty="0"/>
              <a:t>&amp;</a:t>
            </a:r>
            <a:r>
              <a:rPr spc="-85" dirty="0"/>
              <a:t> </a:t>
            </a:r>
            <a:r>
              <a:rPr spc="140" dirty="0"/>
              <a:t>Working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57682" y="2911348"/>
            <a:ext cx="3504565" cy="574675"/>
            <a:chOff x="657682" y="2911348"/>
            <a:chExt cx="3504565" cy="574675"/>
          </a:xfrm>
        </p:grpSpPr>
        <p:sp>
          <p:nvSpPr>
            <p:cNvPr id="4" name="object 4"/>
            <p:cNvSpPr/>
            <p:nvPr/>
          </p:nvSpPr>
          <p:spPr>
            <a:xfrm>
              <a:off x="944956" y="3104134"/>
              <a:ext cx="3213735" cy="189230"/>
            </a:xfrm>
            <a:custGeom>
              <a:avLst/>
              <a:gdLst/>
              <a:ahLst/>
              <a:cxnLst/>
              <a:rect l="l" t="t" r="r" b="b"/>
              <a:pathLst>
                <a:path w="3213735" h="189229">
                  <a:moveTo>
                    <a:pt x="0" y="79375"/>
                  </a:moveTo>
                  <a:lnTo>
                    <a:pt x="6239" y="48488"/>
                  </a:lnTo>
                  <a:lnTo>
                    <a:pt x="23253" y="23256"/>
                  </a:lnTo>
                  <a:lnTo>
                    <a:pt x="48488" y="6240"/>
                  </a:lnTo>
                  <a:lnTo>
                    <a:pt x="79387" y="0"/>
                  </a:lnTo>
                  <a:lnTo>
                    <a:pt x="3134029" y="0"/>
                  </a:lnTo>
                  <a:lnTo>
                    <a:pt x="3164916" y="6240"/>
                  </a:lnTo>
                  <a:lnTo>
                    <a:pt x="3190147" y="23256"/>
                  </a:lnTo>
                  <a:lnTo>
                    <a:pt x="3207163" y="48488"/>
                  </a:lnTo>
                  <a:lnTo>
                    <a:pt x="3213404" y="79375"/>
                  </a:lnTo>
                  <a:lnTo>
                    <a:pt x="3213404" y="109600"/>
                  </a:lnTo>
                  <a:lnTo>
                    <a:pt x="3207163" y="140541"/>
                  </a:lnTo>
                  <a:lnTo>
                    <a:pt x="3190147" y="165766"/>
                  </a:lnTo>
                  <a:lnTo>
                    <a:pt x="3164916" y="182752"/>
                  </a:lnTo>
                  <a:lnTo>
                    <a:pt x="3134029" y="188975"/>
                  </a:lnTo>
                  <a:lnTo>
                    <a:pt x="79387" y="188975"/>
                  </a:lnTo>
                  <a:lnTo>
                    <a:pt x="48488" y="182752"/>
                  </a:lnTo>
                  <a:lnTo>
                    <a:pt x="23253" y="165766"/>
                  </a:lnTo>
                  <a:lnTo>
                    <a:pt x="6239" y="140541"/>
                  </a:lnTo>
                  <a:lnTo>
                    <a:pt x="0" y="109600"/>
                  </a:lnTo>
                  <a:lnTo>
                    <a:pt x="0" y="79375"/>
                  </a:lnTo>
                  <a:close/>
                </a:path>
              </a:pathLst>
            </a:custGeom>
            <a:ln w="7620">
              <a:solidFill>
                <a:srgbClr val="F8EB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1492" y="2915158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4">
                  <a:moveTo>
                    <a:pt x="283514" y="0"/>
                  </a:moveTo>
                  <a:lnTo>
                    <a:pt x="237527" y="3709"/>
                  </a:lnTo>
                  <a:lnTo>
                    <a:pt x="193903" y="14447"/>
                  </a:lnTo>
                  <a:lnTo>
                    <a:pt x="153224" y="31632"/>
                  </a:lnTo>
                  <a:lnTo>
                    <a:pt x="116075" y="54681"/>
                  </a:lnTo>
                  <a:lnTo>
                    <a:pt x="83040" y="83010"/>
                  </a:lnTo>
                  <a:lnTo>
                    <a:pt x="54702" y="116037"/>
                  </a:lnTo>
                  <a:lnTo>
                    <a:pt x="31645" y="153179"/>
                  </a:lnTo>
                  <a:lnTo>
                    <a:pt x="14454" y="193852"/>
                  </a:lnTo>
                  <a:lnTo>
                    <a:pt x="3710" y="237475"/>
                  </a:lnTo>
                  <a:lnTo>
                    <a:pt x="0" y="283463"/>
                  </a:lnTo>
                  <a:lnTo>
                    <a:pt x="3710" y="329452"/>
                  </a:lnTo>
                  <a:lnTo>
                    <a:pt x="14454" y="373075"/>
                  </a:lnTo>
                  <a:lnTo>
                    <a:pt x="31645" y="413748"/>
                  </a:lnTo>
                  <a:lnTo>
                    <a:pt x="54702" y="450890"/>
                  </a:lnTo>
                  <a:lnTo>
                    <a:pt x="83040" y="483917"/>
                  </a:lnTo>
                  <a:lnTo>
                    <a:pt x="116075" y="512246"/>
                  </a:lnTo>
                  <a:lnTo>
                    <a:pt x="153224" y="535295"/>
                  </a:lnTo>
                  <a:lnTo>
                    <a:pt x="193903" y="552480"/>
                  </a:lnTo>
                  <a:lnTo>
                    <a:pt x="237527" y="563218"/>
                  </a:lnTo>
                  <a:lnTo>
                    <a:pt x="283514" y="566927"/>
                  </a:lnTo>
                  <a:lnTo>
                    <a:pt x="329504" y="563218"/>
                  </a:lnTo>
                  <a:lnTo>
                    <a:pt x="373131" y="552480"/>
                  </a:lnTo>
                  <a:lnTo>
                    <a:pt x="413810" y="535295"/>
                  </a:lnTo>
                  <a:lnTo>
                    <a:pt x="450959" y="512246"/>
                  </a:lnTo>
                  <a:lnTo>
                    <a:pt x="483993" y="483917"/>
                  </a:lnTo>
                  <a:lnTo>
                    <a:pt x="512330" y="450890"/>
                  </a:lnTo>
                  <a:lnTo>
                    <a:pt x="535386" y="413748"/>
                  </a:lnTo>
                  <a:lnTo>
                    <a:pt x="552576" y="373075"/>
                  </a:lnTo>
                  <a:lnTo>
                    <a:pt x="563319" y="329452"/>
                  </a:lnTo>
                  <a:lnTo>
                    <a:pt x="567029" y="283463"/>
                  </a:lnTo>
                  <a:lnTo>
                    <a:pt x="563319" y="237475"/>
                  </a:lnTo>
                  <a:lnTo>
                    <a:pt x="552576" y="193852"/>
                  </a:lnTo>
                  <a:lnTo>
                    <a:pt x="535386" y="153179"/>
                  </a:lnTo>
                  <a:lnTo>
                    <a:pt x="512330" y="116037"/>
                  </a:lnTo>
                  <a:lnTo>
                    <a:pt x="483993" y="83010"/>
                  </a:lnTo>
                  <a:lnTo>
                    <a:pt x="450959" y="54681"/>
                  </a:lnTo>
                  <a:lnTo>
                    <a:pt x="413810" y="31632"/>
                  </a:lnTo>
                  <a:lnTo>
                    <a:pt x="373131" y="14447"/>
                  </a:lnTo>
                  <a:lnTo>
                    <a:pt x="329504" y="3709"/>
                  </a:lnTo>
                  <a:lnTo>
                    <a:pt x="2835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1492" y="2915158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4">
                  <a:moveTo>
                    <a:pt x="0" y="283463"/>
                  </a:moveTo>
                  <a:lnTo>
                    <a:pt x="3710" y="237475"/>
                  </a:lnTo>
                  <a:lnTo>
                    <a:pt x="14454" y="193852"/>
                  </a:lnTo>
                  <a:lnTo>
                    <a:pt x="31645" y="153179"/>
                  </a:lnTo>
                  <a:lnTo>
                    <a:pt x="54702" y="116037"/>
                  </a:lnTo>
                  <a:lnTo>
                    <a:pt x="83040" y="83010"/>
                  </a:lnTo>
                  <a:lnTo>
                    <a:pt x="116075" y="54681"/>
                  </a:lnTo>
                  <a:lnTo>
                    <a:pt x="153224" y="31632"/>
                  </a:lnTo>
                  <a:lnTo>
                    <a:pt x="193903" y="14447"/>
                  </a:lnTo>
                  <a:lnTo>
                    <a:pt x="237527" y="3709"/>
                  </a:lnTo>
                  <a:lnTo>
                    <a:pt x="283514" y="0"/>
                  </a:lnTo>
                  <a:lnTo>
                    <a:pt x="329504" y="3709"/>
                  </a:lnTo>
                  <a:lnTo>
                    <a:pt x="373131" y="14447"/>
                  </a:lnTo>
                  <a:lnTo>
                    <a:pt x="413810" y="31632"/>
                  </a:lnTo>
                  <a:lnTo>
                    <a:pt x="450959" y="54681"/>
                  </a:lnTo>
                  <a:lnTo>
                    <a:pt x="483993" y="83010"/>
                  </a:lnTo>
                  <a:lnTo>
                    <a:pt x="512330" y="116037"/>
                  </a:lnTo>
                  <a:lnTo>
                    <a:pt x="535386" y="153179"/>
                  </a:lnTo>
                  <a:lnTo>
                    <a:pt x="552576" y="193852"/>
                  </a:lnTo>
                  <a:lnTo>
                    <a:pt x="563319" y="237475"/>
                  </a:lnTo>
                  <a:lnTo>
                    <a:pt x="567029" y="283463"/>
                  </a:lnTo>
                  <a:lnTo>
                    <a:pt x="563319" y="329452"/>
                  </a:lnTo>
                  <a:lnTo>
                    <a:pt x="552576" y="373075"/>
                  </a:lnTo>
                  <a:lnTo>
                    <a:pt x="535386" y="413748"/>
                  </a:lnTo>
                  <a:lnTo>
                    <a:pt x="512330" y="450890"/>
                  </a:lnTo>
                  <a:lnTo>
                    <a:pt x="483993" y="483917"/>
                  </a:lnTo>
                  <a:lnTo>
                    <a:pt x="450959" y="512246"/>
                  </a:lnTo>
                  <a:lnTo>
                    <a:pt x="413810" y="535295"/>
                  </a:lnTo>
                  <a:lnTo>
                    <a:pt x="373131" y="552480"/>
                  </a:lnTo>
                  <a:lnTo>
                    <a:pt x="329504" y="563218"/>
                  </a:lnTo>
                  <a:lnTo>
                    <a:pt x="283514" y="566927"/>
                  </a:lnTo>
                  <a:lnTo>
                    <a:pt x="237527" y="563218"/>
                  </a:lnTo>
                  <a:lnTo>
                    <a:pt x="193903" y="552480"/>
                  </a:lnTo>
                  <a:lnTo>
                    <a:pt x="153224" y="535295"/>
                  </a:lnTo>
                  <a:lnTo>
                    <a:pt x="116075" y="512246"/>
                  </a:lnTo>
                  <a:lnTo>
                    <a:pt x="83040" y="483917"/>
                  </a:lnTo>
                  <a:lnTo>
                    <a:pt x="54702" y="450890"/>
                  </a:lnTo>
                  <a:lnTo>
                    <a:pt x="31645" y="413748"/>
                  </a:lnTo>
                  <a:lnTo>
                    <a:pt x="14454" y="373075"/>
                  </a:lnTo>
                  <a:lnTo>
                    <a:pt x="3710" y="329452"/>
                  </a:lnTo>
                  <a:lnTo>
                    <a:pt x="0" y="283463"/>
                  </a:lnTo>
                  <a:close/>
                </a:path>
              </a:pathLst>
            </a:custGeom>
            <a:ln w="7620">
              <a:solidFill>
                <a:srgbClr val="F8EB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4200" y="3068752"/>
              <a:ext cx="241935" cy="260350"/>
            </a:xfrm>
            <a:custGeom>
              <a:avLst/>
              <a:gdLst/>
              <a:ahLst/>
              <a:cxnLst/>
              <a:rect l="l" t="t" r="r" b="b"/>
              <a:pathLst>
                <a:path w="241934" h="260350">
                  <a:moveTo>
                    <a:pt x="0" y="234071"/>
                  </a:moveTo>
                  <a:lnTo>
                    <a:pt x="21987" y="259818"/>
                  </a:lnTo>
                  <a:lnTo>
                    <a:pt x="30694" y="259828"/>
                  </a:lnTo>
                </a:path>
                <a:path w="241934" h="260350">
                  <a:moveTo>
                    <a:pt x="216467" y="259842"/>
                  </a:moveTo>
                  <a:lnTo>
                    <a:pt x="241679" y="237113"/>
                  </a:lnTo>
                  <a:lnTo>
                    <a:pt x="241725" y="227299"/>
                  </a:lnTo>
                </a:path>
                <a:path w="241934" h="260350">
                  <a:moveTo>
                    <a:pt x="120738" y="18159"/>
                  </a:moveTo>
                  <a:lnTo>
                    <a:pt x="120553" y="18135"/>
                  </a:lnTo>
                </a:path>
                <a:path w="241934" h="260350">
                  <a:moveTo>
                    <a:pt x="120553" y="18135"/>
                  </a:moveTo>
                  <a:lnTo>
                    <a:pt x="120834" y="16776"/>
                  </a:lnTo>
                </a:path>
                <a:path w="241934" h="260350">
                  <a:moveTo>
                    <a:pt x="120834" y="16776"/>
                  </a:moveTo>
                  <a:lnTo>
                    <a:pt x="120862" y="189929"/>
                  </a:lnTo>
                </a:path>
                <a:path w="241934" h="260350">
                  <a:moveTo>
                    <a:pt x="121035" y="0"/>
                  </a:moveTo>
                  <a:lnTo>
                    <a:pt x="62285" y="58055"/>
                  </a:lnTo>
                </a:path>
                <a:path w="241934" h="260350">
                  <a:moveTo>
                    <a:pt x="179587" y="58228"/>
                  </a:moveTo>
                  <a:lnTo>
                    <a:pt x="121035" y="0"/>
                  </a:lnTo>
                </a:path>
                <a:path w="241934" h="260350">
                  <a:moveTo>
                    <a:pt x="41" y="183113"/>
                  </a:moveTo>
                  <a:lnTo>
                    <a:pt x="0" y="234071"/>
                  </a:lnTo>
                </a:path>
                <a:path w="241934" h="260350">
                  <a:moveTo>
                    <a:pt x="30694" y="259828"/>
                  </a:moveTo>
                  <a:lnTo>
                    <a:pt x="216467" y="259842"/>
                  </a:lnTo>
                </a:path>
                <a:path w="241934" h="260350">
                  <a:moveTo>
                    <a:pt x="241725" y="227299"/>
                  </a:moveTo>
                  <a:lnTo>
                    <a:pt x="241702" y="183597"/>
                  </a:lnTo>
                </a:path>
              </a:pathLst>
            </a:custGeom>
            <a:ln w="11661">
              <a:solidFill>
                <a:srgbClr val="2C29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37996" y="3645535"/>
            <a:ext cx="2927985" cy="162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110" dirty="0">
                <a:solidFill>
                  <a:srgbClr val="2C2925"/>
                </a:solidFill>
                <a:latin typeface="Arial MT"/>
                <a:cs typeface="Arial MT"/>
              </a:rPr>
              <a:t>Input</a:t>
            </a:r>
            <a:r>
              <a:rPr sz="1800" spc="-2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2C2925"/>
                </a:solidFill>
                <a:latin typeface="Arial MT"/>
                <a:cs typeface="Arial MT"/>
              </a:rPr>
              <a:t>Stage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38000"/>
              </a:lnSpc>
              <a:spcBef>
                <a:spcPts val="820"/>
              </a:spcBef>
            </a:pP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Program</a:t>
            </a:r>
            <a:r>
              <a:rPr sz="14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reads</a:t>
            </a:r>
            <a:r>
              <a:rPr sz="14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structured</a:t>
            </a:r>
            <a:r>
              <a:rPr sz="1450" spc="-3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file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containing</a:t>
            </a:r>
            <a:r>
              <a:rPr sz="1450" spc="-5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appliance</a:t>
            </a:r>
            <a:r>
              <a:rPr sz="1450" spc="-3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names,</a:t>
            </a:r>
            <a:r>
              <a:rPr sz="1450" spc="-6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power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ratings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(watts),</a:t>
            </a:r>
            <a:r>
              <a:rPr sz="1450" spc="-3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and</a:t>
            </a:r>
            <a:r>
              <a:rPr sz="1450" spc="-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usage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duration (hours)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43653" y="2627757"/>
            <a:ext cx="3504565" cy="574675"/>
            <a:chOff x="4343653" y="2627757"/>
            <a:chExt cx="3504565" cy="574675"/>
          </a:xfrm>
        </p:grpSpPr>
        <p:sp>
          <p:nvSpPr>
            <p:cNvPr id="10" name="object 10"/>
            <p:cNvSpPr/>
            <p:nvPr/>
          </p:nvSpPr>
          <p:spPr>
            <a:xfrm>
              <a:off x="4630927" y="2820543"/>
              <a:ext cx="3213735" cy="189230"/>
            </a:xfrm>
            <a:custGeom>
              <a:avLst/>
              <a:gdLst/>
              <a:ahLst/>
              <a:cxnLst/>
              <a:rect l="l" t="t" r="r" b="b"/>
              <a:pathLst>
                <a:path w="3213734" h="189230">
                  <a:moveTo>
                    <a:pt x="0" y="79502"/>
                  </a:moveTo>
                  <a:lnTo>
                    <a:pt x="6240" y="48541"/>
                  </a:lnTo>
                  <a:lnTo>
                    <a:pt x="23256" y="23272"/>
                  </a:lnTo>
                  <a:lnTo>
                    <a:pt x="48488" y="6242"/>
                  </a:lnTo>
                  <a:lnTo>
                    <a:pt x="79375" y="0"/>
                  </a:lnTo>
                  <a:lnTo>
                    <a:pt x="3133979" y="0"/>
                  </a:lnTo>
                  <a:lnTo>
                    <a:pt x="3164919" y="6242"/>
                  </a:lnTo>
                  <a:lnTo>
                    <a:pt x="3190144" y="23272"/>
                  </a:lnTo>
                  <a:lnTo>
                    <a:pt x="3207130" y="48541"/>
                  </a:lnTo>
                  <a:lnTo>
                    <a:pt x="3213354" y="79502"/>
                  </a:lnTo>
                  <a:lnTo>
                    <a:pt x="3213354" y="109728"/>
                  </a:lnTo>
                  <a:lnTo>
                    <a:pt x="3207130" y="140614"/>
                  </a:lnTo>
                  <a:lnTo>
                    <a:pt x="3190144" y="165846"/>
                  </a:lnTo>
                  <a:lnTo>
                    <a:pt x="3164919" y="182862"/>
                  </a:lnTo>
                  <a:lnTo>
                    <a:pt x="3133979" y="189103"/>
                  </a:lnTo>
                  <a:lnTo>
                    <a:pt x="79375" y="189103"/>
                  </a:lnTo>
                  <a:lnTo>
                    <a:pt x="48488" y="182862"/>
                  </a:lnTo>
                  <a:lnTo>
                    <a:pt x="23256" y="165846"/>
                  </a:lnTo>
                  <a:lnTo>
                    <a:pt x="6240" y="140614"/>
                  </a:lnTo>
                  <a:lnTo>
                    <a:pt x="0" y="109728"/>
                  </a:lnTo>
                  <a:lnTo>
                    <a:pt x="0" y="79502"/>
                  </a:lnTo>
                  <a:close/>
                </a:path>
              </a:pathLst>
            </a:custGeom>
            <a:ln w="7619">
              <a:solidFill>
                <a:srgbClr val="F8EB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47463" y="2631567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283463" y="0"/>
                  </a:moveTo>
                  <a:lnTo>
                    <a:pt x="237506" y="3709"/>
                  </a:lnTo>
                  <a:lnTo>
                    <a:pt x="193901" y="14447"/>
                  </a:lnTo>
                  <a:lnTo>
                    <a:pt x="153235" y="31632"/>
                  </a:lnTo>
                  <a:lnTo>
                    <a:pt x="116092" y="54681"/>
                  </a:lnTo>
                  <a:lnTo>
                    <a:pt x="83057" y="83010"/>
                  </a:lnTo>
                  <a:lnTo>
                    <a:pt x="54717" y="116037"/>
                  </a:lnTo>
                  <a:lnTo>
                    <a:pt x="31656" y="153179"/>
                  </a:lnTo>
                  <a:lnTo>
                    <a:pt x="14459" y="193852"/>
                  </a:lnTo>
                  <a:lnTo>
                    <a:pt x="3712" y="237475"/>
                  </a:lnTo>
                  <a:lnTo>
                    <a:pt x="0" y="283463"/>
                  </a:lnTo>
                  <a:lnTo>
                    <a:pt x="3712" y="329456"/>
                  </a:lnTo>
                  <a:lnTo>
                    <a:pt x="14459" y="373088"/>
                  </a:lnTo>
                  <a:lnTo>
                    <a:pt x="31656" y="413776"/>
                  </a:lnTo>
                  <a:lnTo>
                    <a:pt x="54717" y="450935"/>
                  </a:lnTo>
                  <a:lnTo>
                    <a:pt x="83057" y="483981"/>
                  </a:lnTo>
                  <a:lnTo>
                    <a:pt x="116092" y="512329"/>
                  </a:lnTo>
                  <a:lnTo>
                    <a:pt x="153235" y="535395"/>
                  </a:lnTo>
                  <a:lnTo>
                    <a:pt x="193901" y="552594"/>
                  </a:lnTo>
                  <a:lnTo>
                    <a:pt x="237506" y="563342"/>
                  </a:lnTo>
                  <a:lnTo>
                    <a:pt x="283463" y="567055"/>
                  </a:lnTo>
                  <a:lnTo>
                    <a:pt x="329456" y="563342"/>
                  </a:lnTo>
                  <a:lnTo>
                    <a:pt x="373088" y="552594"/>
                  </a:lnTo>
                  <a:lnTo>
                    <a:pt x="413776" y="535395"/>
                  </a:lnTo>
                  <a:lnTo>
                    <a:pt x="450935" y="512329"/>
                  </a:lnTo>
                  <a:lnTo>
                    <a:pt x="483981" y="483981"/>
                  </a:lnTo>
                  <a:lnTo>
                    <a:pt x="512329" y="450935"/>
                  </a:lnTo>
                  <a:lnTo>
                    <a:pt x="535395" y="413776"/>
                  </a:lnTo>
                  <a:lnTo>
                    <a:pt x="552594" y="373088"/>
                  </a:lnTo>
                  <a:lnTo>
                    <a:pt x="563342" y="329456"/>
                  </a:lnTo>
                  <a:lnTo>
                    <a:pt x="567055" y="283463"/>
                  </a:lnTo>
                  <a:lnTo>
                    <a:pt x="563342" y="237475"/>
                  </a:lnTo>
                  <a:lnTo>
                    <a:pt x="552594" y="193852"/>
                  </a:lnTo>
                  <a:lnTo>
                    <a:pt x="535395" y="153179"/>
                  </a:lnTo>
                  <a:lnTo>
                    <a:pt x="512329" y="116037"/>
                  </a:lnTo>
                  <a:lnTo>
                    <a:pt x="483981" y="83010"/>
                  </a:lnTo>
                  <a:lnTo>
                    <a:pt x="450935" y="54681"/>
                  </a:lnTo>
                  <a:lnTo>
                    <a:pt x="413776" y="31632"/>
                  </a:lnTo>
                  <a:lnTo>
                    <a:pt x="373088" y="14447"/>
                  </a:lnTo>
                  <a:lnTo>
                    <a:pt x="329456" y="3709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47463" y="2631567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0" y="283463"/>
                  </a:moveTo>
                  <a:lnTo>
                    <a:pt x="3712" y="237475"/>
                  </a:lnTo>
                  <a:lnTo>
                    <a:pt x="14459" y="193852"/>
                  </a:lnTo>
                  <a:lnTo>
                    <a:pt x="31656" y="153179"/>
                  </a:lnTo>
                  <a:lnTo>
                    <a:pt x="54717" y="116037"/>
                  </a:lnTo>
                  <a:lnTo>
                    <a:pt x="83058" y="83010"/>
                  </a:lnTo>
                  <a:lnTo>
                    <a:pt x="116092" y="54681"/>
                  </a:lnTo>
                  <a:lnTo>
                    <a:pt x="153235" y="31632"/>
                  </a:lnTo>
                  <a:lnTo>
                    <a:pt x="193901" y="14447"/>
                  </a:lnTo>
                  <a:lnTo>
                    <a:pt x="237506" y="3709"/>
                  </a:lnTo>
                  <a:lnTo>
                    <a:pt x="283463" y="0"/>
                  </a:lnTo>
                  <a:lnTo>
                    <a:pt x="329456" y="3709"/>
                  </a:lnTo>
                  <a:lnTo>
                    <a:pt x="373088" y="14447"/>
                  </a:lnTo>
                  <a:lnTo>
                    <a:pt x="413776" y="31632"/>
                  </a:lnTo>
                  <a:lnTo>
                    <a:pt x="450935" y="54681"/>
                  </a:lnTo>
                  <a:lnTo>
                    <a:pt x="483981" y="83010"/>
                  </a:lnTo>
                  <a:lnTo>
                    <a:pt x="512329" y="116037"/>
                  </a:lnTo>
                  <a:lnTo>
                    <a:pt x="535395" y="153179"/>
                  </a:lnTo>
                  <a:lnTo>
                    <a:pt x="552594" y="193852"/>
                  </a:lnTo>
                  <a:lnTo>
                    <a:pt x="563342" y="237475"/>
                  </a:lnTo>
                  <a:lnTo>
                    <a:pt x="567055" y="283463"/>
                  </a:lnTo>
                  <a:lnTo>
                    <a:pt x="563342" y="329456"/>
                  </a:lnTo>
                  <a:lnTo>
                    <a:pt x="552594" y="373088"/>
                  </a:lnTo>
                  <a:lnTo>
                    <a:pt x="535395" y="413776"/>
                  </a:lnTo>
                  <a:lnTo>
                    <a:pt x="512329" y="450935"/>
                  </a:lnTo>
                  <a:lnTo>
                    <a:pt x="483981" y="483981"/>
                  </a:lnTo>
                  <a:lnTo>
                    <a:pt x="450935" y="512329"/>
                  </a:lnTo>
                  <a:lnTo>
                    <a:pt x="413776" y="535395"/>
                  </a:lnTo>
                  <a:lnTo>
                    <a:pt x="373088" y="552594"/>
                  </a:lnTo>
                  <a:lnTo>
                    <a:pt x="329456" y="563342"/>
                  </a:lnTo>
                  <a:lnTo>
                    <a:pt x="283463" y="567055"/>
                  </a:lnTo>
                  <a:lnTo>
                    <a:pt x="237506" y="563342"/>
                  </a:lnTo>
                  <a:lnTo>
                    <a:pt x="193901" y="552594"/>
                  </a:lnTo>
                  <a:lnTo>
                    <a:pt x="153235" y="535395"/>
                  </a:lnTo>
                  <a:lnTo>
                    <a:pt x="116092" y="512329"/>
                  </a:lnTo>
                  <a:lnTo>
                    <a:pt x="83057" y="483981"/>
                  </a:lnTo>
                  <a:lnTo>
                    <a:pt x="54717" y="450935"/>
                  </a:lnTo>
                  <a:lnTo>
                    <a:pt x="31656" y="413776"/>
                  </a:lnTo>
                  <a:lnTo>
                    <a:pt x="14459" y="373088"/>
                  </a:lnTo>
                  <a:lnTo>
                    <a:pt x="3712" y="329456"/>
                  </a:lnTo>
                  <a:lnTo>
                    <a:pt x="0" y="283463"/>
                  </a:lnTo>
                  <a:close/>
                </a:path>
              </a:pathLst>
            </a:custGeom>
            <a:ln w="7620">
              <a:solidFill>
                <a:srgbClr val="F8EB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16837" y="2779196"/>
              <a:ext cx="228275" cy="27171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524247" y="3362071"/>
            <a:ext cx="2835910" cy="162813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100" dirty="0">
                <a:solidFill>
                  <a:srgbClr val="2C2925"/>
                </a:solidFill>
                <a:latin typeface="Arial MT"/>
                <a:cs typeface="Arial MT"/>
              </a:rPr>
              <a:t>Processing</a:t>
            </a:r>
            <a:r>
              <a:rPr sz="1800" spc="-15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2C2925"/>
                </a:solidFill>
                <a:latin typeface="Arial MT"/>
                <a:cs typeface="Arial MT"/>
              </a:rPr>
              <a:t>Stage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37900"/>
              </a:lnSpc>
              <a:spcBef>
                <a:spcPts val="819"/>
              </a:spcBef>
            </a:pP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Calculates</a:t>
            </a:r>
            <a:r>
              <a:rPr sz="1450" spc="-5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energy</a:t>
            </a:r>
            <a:r>
              <a:rPr sz="1450" spc="-4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consumption: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(Power ×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Duration)</a:t>
            </a:r>
            <a:r>
              <a:rPr sz="1450" spc="-3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÷</a:t>
            </a:r>
            <a:r>
              <a:rPr sz="1450" spc="-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1000</a:t>
            </a:r>
            <a:r>
              <a:rPr sz="1450" spc="-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= 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kWh.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Sums</a:t>
            </a:r>
            <a:r>
              <a:rPr sz="14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total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consumption</a:t>
            </a:r>
            <a:r>
              <a:rPr sz="1450" spc="-4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and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multiplies</a:t>
            </a:r>
            <a:r>
              <a:rPr sz="1450" spc="-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by</a:t>
            </a:r>
            <a:r>
              <a:rPr sz="1450" spc="-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tariff</a:t>
            </a:r>
            <a:r>
              <a:rPr sz="1450" spc="-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rate</a:t>
            </a:r>
            <a:r>
              <a:rPr sz="1450" spc="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for 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cost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029575" y="2344292"/>
            <a:ext cx="3504565" cy="574675"/>
            <a:chOff x="8029575" y="2344292"/>
            <a:chExt cx="3504565" cy="574675"/>
          </a:xfrm>
        </p:grpSpPr>
        <p:sp>
          <p:nvSpPr>
            <p:cNvPr id="16" name="object 16"/>
            <p:cNvSpPr/>
            <p:nvPr/>
          </p:nvSpPr>
          <p:spPr>
            <a:xfrm>
              <a:off x="8316975" y="2537078"/>
              <a:ext cx="3213735" cy="189230"/>
            </a:xfrm>
            <a:custGeom>
              <a:avLst/>
              <a:gdLst/>
              <a:ahLst/>
              <a:cxnLst/>
              <a:rect l="l" t="t" r="r" b="b"/>
              <a:pathLst>
                <a:path w="3213734" h="189230">
                  <a:moveTo>
                    <a:pt x="0" y="79375"/>
                  </a:moveTo>
                  <a:lnTo>
                    <a:pt x="6223" y="48488"/>
                  </a:lnTo>
                  <a:lnTo>
                    <a:pt x="23209" y="23256"/>
                  </a:lnTo>
                  <a:lnTo>
                    <a:pt x="48434" y="6240"/>
                  </a:lnTo>
                  <a:lnTo>
                    <a:pt x="79375" y="0"/>
                  </a:lnTo>
                  <a:lnTo>
                    <a:pt x="3133979" y="0"/>
                  </a:lnTo>
                  <a:lnTo>
                    <a:pt x="3164865" y="6240"/>
                  </a:lnTo>
                  <a:lnTo>
                    <a:pt x="3190097" y="23256"/>
                  </a:lnTo>
                  <a:lnTo>
                    <a:pt x="3207113" y="48488"/>
                  </a:lnTo>
                  <a:lnTo>
                    <a:pt x="3213354" y="79375"/>
                  </a:lnTo>
                  <a:lnTo>
                    <a:pt x="3213354" y="109600"/>
                  </a:lnTo>
                  <a:lnTo>
                    <a:pt x="3207113" y="140561"/>
                  </a:lnTo>
                  <a:lnTo>
                    <a:pt x="3190097" y="165830"/>
                  </a:lnTo>
                  <a:lnTo>
                    <a:pt x="3164865" y="182860"/>
                  </a:lnTo>
                  <a:lnTo>
                    <a:pt x="3133979" y="189103"/>
                  </a:lnTo>
                  <a:lnTo>
                    <a:pt x="79375" y="189103"/>
                  </a:lnTo>
                  <a:lnTo>
                    <a:pt x="48434" y="182860"/>
                  </a:lnTo>
                  <a:lnTo>
                    <a:pt x="23209" y="165830"/>
                  </a:lnTo>
                  <a:lnTo>
                    <a:pt x="6223" y="140561"/>
                  </a:lnTo>
                  <a:lnTo>
                    <a:pt x="0" y="109600"/>
                  </a:lnTo>
                  <a:lnTo>
                    <a:pt x="0" y="79375"/>
                  </a:lnTo>
                  <a:close/>
                </a:path>
              </a:pathLst>
            </a:custGeom>
            <a:ln w="7619">
              <a:solidFill>
                <a:srgbClr val="F8EB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33385" y="2348102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283591" y="0"/>
                  </a:moveTo>
                  <a:lnTo>
                    <a:pt x="237598" y="3709"/>
                  </a:lnTo>
                  <a:lnTo>
                    <a:pt x="193966" y="14447"/>
                  </a:lnTo>
                  <a:lnTo>
                    <a:pt x="153278" y="31632"/>
                  </a:lnTo>
                  <a:lnTo>
                    <a:pt x="116119" y="54681"/>
                  </a:lnTo>
                  <a:lnTo>
                    <a:pt x="83073" y="83010"/>
                  </a:lnTo>
                  <a:lnTo>
                    <a:pt x="54725" y="116037"/>
                  </a:lnTo>
                  <a:lnTo>
                    <a:pt x="31659" y="153179"/>
                  </a:lnTo>
                  <a:lnTo>
                    <a:pt x="14460" y="193852"/>
                  </a:lnTo>
                  <a:lnTo>
                    <a:pt x="3712" y="237475"/>
                  </a:lnTo>
                  <a:lnTo>
                    <a:pt x="0" y="283463"/>
                  </a:lnTo>
                  <a:lnTo>
                    <a:pt x="3712" y="329456"/>
                  </a:lnTo>
                  <a:lnTo>
                    <a:pt x="14460" y="373088"/>
                  </a:lnTo>
                  <a:lnTo>
                    <a:pt x="31659" y="413776"/>
                  </a:lnTo>
                  <a:lnTo>
                    <a:pt x="54725" y="450935"/>
                  </a:lnTo>
                  <a:lnTo>
                    <a:pt x="83073" y="483981"/>
                  </a:lnTo>
                  <a:lnTo>
                    <a:pt x="116119" y="512329"/>
                  </a:lnTo>
                  <a:lnTo>
                    <a:pt x="153278" y="535395"/>
                  </a:lnTo>
                  <a:lnTo>
                    <a:pt x="193966" y="552594"/>
                  </a:lnTo>
                  <a:lnTo>
                    <a:pt x="237598" y="563342"/>
                  </a:lnTo>
                  <a:lnTo>
                    <a:pt x="283591" y="567055"/>
                  </a:lnTo>
                  <a:lnTo>
                    <a:pt x="329579" y="563342"/>
                  </a:lnTo>
                  <a:lnTo>
                    <a:pt x="373202" y="552594"/>
                  </a:lnTo>
                  <a:lnTo>
                    <a:pt x="413875" y="535395"/>
                  </a:lnTo>
                  <a:lnTo>
                    <a:pt x="451017" y="512329"/>
                  </a:lnTo>
                  <a:lnTo>
                    <a:pt x="484044" y="483981"/>
                  </a:lnTo>
                  <a:lnTo>
                    <a:pt x="512373" y="450935"/>
                  </a:lnTo>
                  <a:lnTo>
                    <a:pt x="535422" y="413776"/>
                  </a:lnTo>
                  <a:lnTo>
                    <a:pt x="552607" y="373088"/>
                  </a:lnTo>
                  <a:lnTo>
                    <a:pt x="563345" y="329456"/>
                  </a:lnTo>
                  <a:lnTo>
                    <a:pt x="567055" y="283463"/>
                  </a:lnTo>
                  <a:lnTo>
                    <a:pt x="563345" y="237475"/>
                  </a:lnTo>
                  <a:lnTo>
                    <a:pt x="552607" y="193852"/>
                  </a:lnTo>
                  <a:lnTo>
                    <a:pt x="535422" y="153179"/>
                  </a:lnTo>
                  <a:lnTo>
                    <a:pt x="512373" y="116037"/>
                  </a:lnTo>
                  <a:lnTo>
                    <a:pt x="484044" y="83010"/>
                  </a:lnTo>
                  <a:lnTo>
                    <a:pt x="451017" y="54681"/>
                  </a:lnTo>
                  <a:lnTo>
                    <a:pt x="413875" y="31632"/>
                  </a:lnTo>
                  <a:lnTo>
                    <a:pt x="373202" y="14447"/>
                  </a:lnTo>
                  <a:lnTo>
                    <a:pt x="329579" y="3709"/>
                  </a:lnTo>
                  <a:lnTo>
                    <a:pt x="2835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33385" y="2348102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0" y="283463"/>
                  </a:moveTo>
                  <a:lnTo>
                    <a:pt x="3712" y="237475"/>
                  </a:lnTo>
                  <a:lnTo>
                    <a:pt x="14460" y="193852"/>
                  </a:lnTo>
                  <a:lnTo>
                    <a:pt x="31659" y="153179"/>
                  </a:lnTo>
                  <a:lnTo>
                    <a:pt x="54725" y="116037"/>
                  </a:lnTo>
                  <a:lnTo>
                    <a:pt x="83073" y="83010"/>
                  </a:lnTo>
                  <a:lnTo>
                    <a:pt x="116119" y="54681"/>
                  </a:lnTo>
                  <a:lnTo>
                    <a:pt x="153278" y="31632"/>
                  </a:lnTo>
                  <a:lnTo>
                    <a:pt x="193966" y="14447"/>
                  </a:lnTo>
                  <a:lnTo>
                    <a:pt x="237598" y="3709"/>
                  </a:lnTo>
                  <a:lnTo>
                    <a:pt x="283591" y="0"/>
                  </a:lnTo>
                  <a:lnTo>
                    <a:pt x="329579" y="3709"/>
                  </a:lnTo>
                  <a:lnTo>
                    <a:pt x="373202" y="14447"/>
                  </a:lnTo>
                  <a:lnTo>
                    <a:pt x="413875" y="31632"/>
                  </a:lnTo>
                  <a:lnTo>
                    <a:pt x="451017" y="54681"/>
                  </a:lnTo>
                  <a:lnTo>
                    <a:pt x="484044" y="83010"/>
                  </a:lnTo>
                  <a:lnTo>
                    <a:pt x="512373" y="116037"/>
                  </a:lnTo>
                  <a:lnTo>
                    <a:pt x="535422" y="153179"/>
                  </a:lnTo>
                  <a:lnTo>
                    <a:pt x="552607" y="193852"/>
                  </a:lnTo>
                  <a:lnTo>
                    <a:pt x="563345" y="237475"/>
                  </a:lnTo>
                  <a:lnTo>
                    <a:pt x="567055" y="283463"/>
                  </a:lnTo>
                  <a:lnTo>
                    <a:pt x="563345" y="329456"/>
                  </a:lnTo>
                  <a:lnTo>
                    <a:pt x="552607" y="373088"/>
                  </a:lnTo>
                  <a:lnTo>
                    <a:pt x="535422" y="413776"/>
                  </a:lnTo>
                  <a:lnTo>
                    <a:pt x="512373" y="450935"/>
                  </a:lnTo>
                  <a:lnTo>
                    <a:pt x="484044" y="483981"/>
                  </a:lnTo>
                  <a:lnTo>
                    <a:pt x="451017" y="512329"/>
                  </a:lnTo>
                  <a:lnTo>
                    <a:pt x="413875" y="535395"/>
                  </a:lnTo>
                  <a:lnTo>
                    <a:pt x="373202" y="552594"/>
                  </a:lnTo>
                  <a:lnTo>
                    <a:pt x="329579" y="563342"/>
                  </a:lnTo>
                  <a:lnTo>
                    <a:pt x="283591" y="567055"/>
                  </a:lnTo>
                  <a:lnTo>
                    <a:pt x="237598" y="563342"/>
                  </a:lnTo>
                  <a:lnTo>
                    <a:pt x="193966" y="552594"/>
                  </a:lnTo>
                  <a:lnTo>
                    <a:pt x="153278" y="535395"/>
                  </a:lnTo>
                  <a:lnTo>
                    <a:pt x="116119" y="512329"/>
                  </a:lnTo>
                  <a:lnTo>
                    <a:pt x="83073" y="483981"/>
                  </a:lnTo>
                  <a:lnTo>
                    <a:pt x="54725" y="450935"/>
                  </a:lnTo>
                  <a:lnTo>
                    <a:pt x="31659" y="413776"/>
                  </a:lnTo>
                  <a:lnTo>
                    <a:pt x="14460" y="373088"/>
                  </a:lnTo>
                  <a:lnTo>
                    <a:pt x="3712" y="329456"/>
                  </a:lnTo>
                  <a:lnTo>
                    <a:pt x="0" y="283463"/>
                  </a:lnTo>
                  <a:close/>
                </a:path>
              </a:pathLst>
            </a:custGeom>
            <a:ln w="7620">
              <a:solidFill>
                <a:srgbClr val="F8EB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86961" y="2506167"/>
              <a:ext cx="260350" cy="251460"/>
            </a:xfrm>
            <a:custGeom>
              <a:avLst/>
              <a:gdLst/>
              <a:ahLst/>
              <a:cxnLst/>
              <a:rect l="l" t="t" r="r" b="b"/>
              <a:pathLst>
                <a:path w="260350" h="251460">
                  <a:moveTo>
                    <a:pt x="198859" y="221049"/>
                  </a:moveTo>
                  <a:lnTo>
                    <a:pt x="184676" y="207510"/>
                  </a:lnTo>
                  <a:lnTo>
                    <a:pt x="184663" y="202143"/>
                  </a:lnTo>
                </a:path>
                <a:path w="260350" h="251460">
                  <a:moveTo>
                    <a:pt x="184664" y="14195"/>
                  </a:moveTo>
                  <a:lnTo>
                    <a:pt x="198851" y="23"/>
                  </a:lnTo>
                  <a:lnTo>
                    <a:pt x="202439" y="0"/>
                  </a:lnTo>
                </a:path>
                <a:path w="260350" h="251460">
                  <a:moveTo>
                    <a:pt x="234616" y="0"/>
                  </a:moveTo>
                  <a:lnTo>
                    <a:pt x="246853" y="14610"/>
                  </a:lnTo>
                  <a:lnTo>
                    <a:pt x="246876" y="17260"/>
                  </a:lnTo>
                </a:path>
                <a:path w="260350" h="251460">
                  <a:moveTo>
                    <a:pt x="246830" y="209285"/>
                  </a:moveTo>
                  <a:lnTo>
                    <a:pt x="246439" y="211757"/>
                  </a:lnTo>
                  <a:lnTo>
                    <a:pt x="245425" y="214479"/>
                  </a:lnTo>
                  <a:lnTo>
                    <a:pt x="242429" y="218417"/>
                  </a:lnTo>
                </a:path>
                <a:path w="260350" h="251460">
                  <a:moveTo>
                    <a:pt x="146497" y="221033"/>
                  </a:moveTo>
                  <a:lnTo>
                    <a:pt x="161304" y="208409"/>
                  </a:lnTo>
                  <a:lnTo>
                    <a:pt x="161338" y="203037"/>
                  </a:lnTo>
                </a:path>
                <a:path w="260350" h="251460">
                  <a:moveTo>
                    <a:pt x="161296" y="82918"/>
                  </a:moveTo>
                  <a:lnTo>
                    <a:pt x="148621" y="67421"/>
                  </a:lnTo>
                  <a:lnTo>
                    <a:pt x="146326" y="67356"/>
                  </a:lnTo>
                </a:path>
                <a:path w="260350" h="251460">
                  <a:moveTo>
                    <a:pt x="111214" y="67448"/>
                  </a:moveTo>
                  <a:lnTo>
                    <a:pt x="107895" y="68027"/>
                  </a:lnTo>
                  <a:lnTo>
                    <a:pt x="105957" y="68822"/>
                  </a:lnTo>
                  <a:lnTo>
                    <a:pt x="103369" y="70621"/>
                  </a:lnTo>
                  <a:lnTo>
                    <a:pt x="100972" y="73048"/>
                  </a:lnTo>
                </a:path>
                <a:path w="260350" h="251460">
                  <a:moveTo>
                    <a:pt x="29598" y="221014"/>
                  </a:moveTo>
                  <a:lnTo>
                    <a:pt x="14229" y="206515"/>
                  </a:lnTo>
                  <a:lnTo>
                    <a:pt x="14160" y="202051"/>
                  </a:lnTo>
                </a:path>
                <a:path w="260350" h="251460">
                  <a:moveTo>
                    <a:pt x="60924" y="123071"/>
                  </a:moveTo>
                  <a:lnTo>
                    <a:pt x="76115" y="138050"/>
                  </a:lnTo>
                  <a:lnTo>
                    <a:pt x="76141" y="142529"/>
                  </a:lnTo>
                </a:path>
                <a:path w="260350" h="251460">
                  <a:moveTo>
                    <a:pt x="76113" y="208326"/>
                  </a:moveTo>
                  <a:lnTo>
                    <a:pt x="75797" y="211107"/>
                  </a:lnTo>
                  <a:lnTo>
                    <a:pt x="75396" y="212543"/>
                  </a:lnTo>
                  <a:lnTo>
                    <a:pt x="74279" y="215034"/>
                  </a:lnTo>
                  <a:lnTo>
                    <a:pt x="72622" y="217744"/>
                  </a:lnTo>
                </a:path>
                <a:path w="260350" h="251460">
                  <a:moveTo>
                    <a:pt x="240931" y="219221"/>
                  </a:moveTo>
                  <a:lnTo>
                    <a:pt x="198859" y="221049"/>
                  </a:lnTo>
                </a:path>
                <a:path w="260350" h="251460">
                  <a:moveTo>
                    <a:pt x="240931" y="219221"/>
                  </a:moveTo>
                  <a:lnTo>
                    <a:pt x="242429" y="218417"/>
                  </a:lnTo>
                </a:path>
                <a:path w="260350" h="251460">
                  <a:moveTo>
                    <a:pt x="100403" y="74827"/>
                  </a:moveTo>
                  <a:lnTo>
                    <a:pt x="99447" y="207065"/>
                  </a:lnTo>
                </a:path>
                <a:path w="260350" h="251460">
                  <a:moveTo>
                    <a:pt x="100403" y="74827"/>
                  </a:moveTo>
                  <a:lnTo>
                    <a:pt x="100972" y="73048"/>
                  </a:lnTo>
                </a:path>
                <a:path w="260350" h="251460">
                  <a:moveTo>
                    <a:pt x="0" y="250902"/>
                  </a:moveTo>
                  <a:lnTo>
                    <a:pt x="260151" y="250856"/>
                  </a:lnTo>
                </a:path>
              </a:pathLst>
            </a:custGeom>
            <a:ln w="11521">
              <a:solidFill>
                <a:srgbClr val="2C29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4510" y="2500407"/>
              <a:ext cx="245088" cy="23287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8210804" y="3077921"/>
            <a:ext cx="2939415" cy="162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110" dirty="0">
                <a:solidFill>
                  <a:srgbClr val="2C2925"/>
                </a:solidFill>
                <a:latin typeface="Arial MT"/>
                <a:cs typeface="Arial MT"/>
              </a:rPr>
              <a:t>Output</a:t>
            </a:r>
            <a:r>
              <a:rPr sz="1800" spc="-2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2C2925"/>
                </a:solidFill>
                <a:latin typeface="Arial MT"/>
                <a:cs typeface="Arial MT"/>
              </a:rPr>
              <a:t>Stage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37900"/>
              </a:lnSpc>
              <a:spcBef>
                <a:spcPts val="825"/>
              </a:spcBef>
            </a:pP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Displays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total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energy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consumed,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estimated</a:t>
            </a:r>
            <a:r>
              <a:rPr sz="1450" spc="-4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cost,</a:t>
            </a:r>
            <a:r>
              <a:rPr sz="1450" spc="-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sorted</a:t>
            </a:r>
            <a:r>
              <a:rPr sz="14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list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of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appliances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by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usage,</a:t>
            </a:r>
            <a:r>
              <a:rPr sz="14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and</a:t>
            </a:r>
            <a:r>
              <a:rPr sz="1450" spc="-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reduction suggestions</a:t>
            </a:r>
            <a:endParaRPr sz="1450">
              <a:latin typeface="Microsoft Sans Serif"/>
              <a:cs typeface="Microsoft Sans Serif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812ED4-09FD-D8E7-1923-7B43E3E98A8C}"/>
              </a:ext>
            </a:extLst>
          </p:cNvPr>
          <p:cNvSpPr/>
          <p:nvPr/>
        </p:nvSpPr>
        <p:spPr>
          <a:xfrm>
            <a:off x="10439400" y="6400800"/>
            <a:ext cx="1752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9020" y="1697862"/>
            <a:ext cx="4361815" cy="590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0" dirty="0"/>
              <a:t>Technologies</a:t>
            </a:r>
            <a:r>
              <a:rPr spc="-110" dirty="0"/>
              <a:t> </a:t>
            </a:r>
            <a:r>
              <a:rPr spc="150" dirty="0"/>
              <a:t>Used</a:t>
            </a:r>
          </a:p>
        </p:txBody>
      </p:sp>
      <p:sp>
        <p:nvSpPr>
          <p:cNvPr id="3" name="object 3"/>
          <p:cNvSpPr/>
          <p:nvPr/>
        </p:nvSpPr>
        <p:spPr>
          <a:xfrm>
            <a:off x="681023" y="2785974"/>
            <a:ext cx="433705" cy="322580"/>
          </a:xfrm>
          <a:custGeom>
            <a:avLst/>
            <a:gdLst/>
            <a:ahLst/>
            <a:cxnLst/>
            <a:rect l="l" t="t" r="r" b="b"/>
            <a:pathLst>
              <a:path w="433705" h="322580">
                <a:moveTo>
                  <a:pt x="147286" y="322257"/>
                </a:moveTo>
                <a:lnTo>
                  <a:pt x="280847" y="0"/>
                </a:lnTo>
              </a:path>
              <a:path w="433705" h="322580">
                <a:moveTo>
                  <a:pt x="109584" y="50559"/>
                </a:moveTo>
                <a:lnTo>
                  <a:pt x="0" y="160832"/>
                </a:lnTo>
              </a:path>
              <a:path w="433705" h="322580">
                <a:moveTo>
                  <a:pt x="109972" y="270752"/>
                </a:moveTo>
                <a:lnTo>
                  <a:pt x="0" y="160832"/>
                </a:lnTo>
              </a:path>
              <a:path w="433705" h="322580">
                <a:moveTo>
                  <a:pt x="325598" y="49265"/>
                </a:moveTo>
                <a:lnTo>
                  <a:pt x="433622" y="159442"/>
                </a:lnTo>
              </a:path>
              <a:path w="433705" h="322580">
                <a:moveTo>
                  <a:pt x="324864" y="272139"/>
                </a:moveTo>
                <a:lnTo>
                  <a:pt x="433622" y="159442"/>
                </a:lnTo>
              </a:path>
            </a:pathLst>
          </a:custGeom>
          <a:ln w="19204">
            <a:solidFill>
              <a:srgbClr val="E7BE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57630" y="2684475"/>
            <a:ext cx="4479290" cy="2411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b="1" dirty="0">
                <a:solidFill>
                  <a:srgbClr val="2C2925"/>
                </a:solidFill>
                <a:latin typeface="Arial"/>
                <a:cs typeface="Arial"/>
              </a:rPr>
              <a:t>Programming</a:t>
            </a:r>
            <a:r>
              <a:rPr sz="1800" b="1" spc="215" dirty="0">
                <a:solidFill>
                  <a:srgbClr val="2C292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2C2925"/>
                </a:solidFill>
                <a:latin typeface="Arial"/>
                <a:cs typeface="Arial"/>
              </a:rPr>
              <a:t>Language</a:t>
            </a:r>
            <a:endParaRPr sz="1800">
              <a:latin typeface="Arial"/>
              <a:cs typeface="Arial"/>
            </a:endParaRPr>
          </a:p>
          <a:p>
            <a:pPr marL="12700" marR="151130">
              <a:lnSpc>
                <a:spcPct val="137900"/>
              </a:lnSpc>
              <a:spcBef>
                <a:spcPts val="825"/>
              </a:spcBef>
            </a:pP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Data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Structures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or C</a:t>
            </a:r>
            <a:r>
              <a:rPr sz="1450" spc="-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for</a:t>
            </a:r>
            <a:r>
              <a:rPr sz="1450" spc="-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implementing</a:t>
            </a:r>
            <a:r>
              <a:rPr sz="1450" spc="-3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core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logic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and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calculations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35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b="1" spc="60" dirty="0">
                <a:solidFill>
                  <a:srgbClr val="2C2925"/>
                </a:solidFill>
                <a:latin typeface="Arial"/>
                <a:cs typeface="Arial"/>
              </a:rPr>
              <a:t>Data</a:t>
            </a:r>
            <a:r>
              <a:rPr sz="1800" b="1" spc="-60" dirty="0">
                <a:solidFill>
                  <a:srgbClr val="2C292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2C2925"/>
                </a:solidFill>
                <a:latin typeface="Arial"/>
                <a:cs typeface="Arial"/>
              </a:rPr>
              <a:t>Processing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37900"/>
              </a:lnSpc>
              <a:spcBef>
                <a:spcPts val="825"/>
              </a:spcBef>
            </a:pP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Sorting</a:t>
            </a:r>
            <a:r>
              <a:rPr sz="1450" spc="-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algorithms</a:t>
            </a:r>
            <a:r>
              <a:rPr sz="1450" spc="-5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and</a:t>
            </a:r>
            <a:r>
              <a:rPr sz="1450" spc="-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comparative</a:t>
            </a:r>
            <a:r>
              <a:rPr sz="1450" spc="-4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analysis</a:t>
            </a:r>
            <a:r>
              <a:rPr sz="1450" spc="-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for</a:t>
            </a:r>
            <a:r>
              <a:rPr sz="1450" spc="-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usage patterns</a:t>
            </a:r>
            <a:endParaRPr sz="145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5311" y="2720715"/>
            <a:ext cx="390251" cy="45264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911085" y="2684475"/>
            <a:ext cx="4020820" cy="714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b="1" dirty="0">
                <a:solidFill>
                  <a:srgbClr val="2C2925"/>
                </a:solidFill>
                <a:latin typeface="Arial"/>
                <a:cs typeface="Arial"/>
              </a:rPr>
              <a:t>File </a:t>
            </a:r>
            <a:r>
              <a:rPr sz="1800" b="1" spc="-10" dirty="0">
                <a:solidFill>
                  <a:srgbClr val="2C2925"/>
                </a:solidFill>
                <a:latin typeface="Arial"/>
                <a:cs typeface="Arial"/>
              </a:rPr>
              <a:t>Handling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Reads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and</a:t>
            </a:r>
            <a:r>
              <a:rPr sz="1450" spc="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processes</a:t>
            </a:r>
            <a:r>
              <a:rPr sz="1450" spc="-4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data</a:t>
            </a:r>
            <a:r>
              <a:rPr sz="1450" spc="-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from</a:t>
            </a:r>
            <a:r>
              <a:rPr sz="1450" spc="-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text</a:t>
            </a:r>
            <a:r>
              <a:rPr sz="1450" spc="-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or</a:t>
            </a:r>
            <a:r>
              <a:rPr sz="1450" spc="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CSV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files</a:t>
            </a:r>
            <a:endParaRPr sz="145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760" y="4112519"/>
            <a:ext cx="386145" cy="452509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6233629" y="4145171"/>
            <a:ext cx="433705" cy="387350"/>
          </a:xfrm>
          <a:custGeom>
            <a:avLst/>
            <a:gdLst/>
            <a:ahLst/>
            <a:cxnLst/>
            <a:rect l="l" t="t" r="r" b="b"/>
            <a:pathLst>
              <a:path w="433704" h="387350">
                <a:moveTo>
                  <a:pt x="216759" y="41598"/>
                </a:moveTo>
                <a:lnTo>
                  <a:pt x="185806" y="14821"/>
                </a:lnTo>
                <a:lnTo>
                  <a:pt x="144417" y="960"/>
                </a:lnTo>
                <a:lnTo>
                  <a:pt x="119885" y="463"/>
                </a:lnTo>
                <a:lnTo>
                  <a:pt x="107848" y="499"/>
                </a:lnTo>
              </a:path>
              <a:path w="433704" h="387350">
                <a:moveTo>
                  <a:pt x="217405" y="361098"/>
                </a:moveTo>
                <a:lnTo>
                  <a:pt x="242996" y="326928"/>
                </a:lnTo>
                <a:lnTo>
                  <a:pt x="279849" y="314805"/>
                </a:lnTo>
                <a:lnTo>
                  <a:pt x="290193" y="314748"/>
                </a:lnTo>
              </a:path>
              <a:path w="433704" h="387350">
                <a:moveTo>
                  <a:pt x="215926" y="363875"/>
                </a:moveTo>
                <a:lnTo>
                  <a:pt x="232056" y="386383"/>
                </a:lnTo>
                <a:lnTo>
                  <a:pt x="236773" y="386910"/>
                </a:lnTo>
              </a:path>
              <a:path w="433704" h="387350">
                <a:moveTo>
                  <a:pt x="35410" y="499"/>
                </a:moveTo>
                <a:lnTo>
                  <a:pt x="518" y="23699"/>
                </a:lnTo>
                <a:lnTo>
                  <a:pt x="42" y="28500"/>
                </a:lnTo>
                <a:lnTo>
                  <a:pt x="0" y="43941"/>
                </a:lnTo>
              </a:path>
              <a:path w="433704" h="387350">
                <a:moveTo>
                  <a:pt x="0" y="285210"/>
                </a:moveTo>
                <a:lnTo>
                  <a:pt x="26276" y="314774"/>
                </a:lnTo>
                <a:lnTo>
                  <a:pt x="37849" y="314801"/>
                </a:lnTo>
              </a:path>
              <a:path w="433704" h="387350">
                <a:moveTo>
                  <a:pt x="305708" y="137337"/>
                </a:moveTo>
                <a:lnTo>
                  <a:pt x="309898" y="127885"/>
                </a:lnTo>
                <a:lnTo>
                  <a:pt x="317136" y="121013"/>
                </a:lnTo>
                <a:lnTo>
                  <a:pt x="326423" y="117356"/>
                </a:lnTo>
                <a:lnTo>
                  <a:pt x="336760" y="117551"/>
                </a:lnTo>
                <a:lnTo>
                  <a:pt x="346210" y="121742"/>
                </a:lnTo>
                <a:lnTo>
                  <a:pt x="353082" y="128980"/>
                </a:lnTo>
                <a:lnTo>
                  <a:pt x="356738" y="138267"/>
                </a:lnTo>
                <a:lnTo>
                  <a:pt x="356543" y="148603"/>
                </a:lnTo>
                <a:lnTo>
                  <a:pt x="354987" y="155628"/>
                </a:lnTo>
                <a:lnTo>
                  <a:pt x="350589" y="161697"/>
                </a:lnTo>
                <a:lnTo>
                  <a:pt x="344401" y="165365"/>
                </a:lnTo>
              </a:path>
              <a:path w="433704" h="387350">
                <a:moveTo>
                  <a:pt x="356309" y="204916"/>
                </a:moveTo>
                <a:lnTo>
                  <a:pt x="305973" y="204936"/>
                </a:lnTo>
              </a:path>
              <a:path w="433704" h="387350">
                <a:moveTo>
                  <a:pt x="107848" y="499"/>
                </a:moveTo>
                <a:lnTo>
                  <a:pt x="35410" y="499"/>
                </a:lnTo>
              </a:path>
              <a:path w="433704" h="387350">
                <a:moveTo>
                  <a:pt x="0" y="43941"/>
                </a:moveTo>
                <a:lnTo>
                  <a:pt x="0" y="285210"/>
                </a:lnTo>
              </a:path>
              <a:path w="433704" h="387350">
                <a:moveTo>
                  <a:pt x="236773" y="386910"/>
                </a:moveTo>
                <a:lnTo>
                  <a:pt x="400176" y="386910"/>
                </a:lnTo>
              </a:path>
              <a:path w="433704" h="387350">
                <a:moveTo>
                  <a:pt x="37849" y="314801"/>
                </a:moveTo>
                <a:lnTo>
                  <a:pt x="151731" y="314713"/>
                </a:lnTo>
              </a:path>
              <a:path w="433704" h="387350">
                <a:moveTo>
                  <a:pt x="151731" y="314494"/>
                </a:moveTo>
                <a:lnTo>
                  <a:pt x="171336" y="317332"/>
                </a:lnTo>
                <a:lnTo>
                  <a:pt x="188896" y="325585"/>
                </a:lnTo>
                <a:lnTo>
                  <a:pt x="203338" y="338541"/>
                </a:lnTo>
                <a:lnTo>
                  <a:pt x="213587" y="355490"/>
                </a:lnTo>
              </a:path>
              <a:path w="433704" h="387350">
                <a:moveTo>
                  <a:pt x="290193" y="314748"/>
                </a:moveTo>
                <a:lnTo>
                  <a:pt x="406015" y="314740"/>
                </a:lnTo>
              </a:path>
              <a:path w="433704" h="387350">
                <a:moveTo>
                  <a:pt x="406015" y="314828"/>
                </a:moveTo>
                <a:lnTo>
                  <a:pt x="433633" y="288509"/>
                </a:lnTo>
                <a:lnTo>
                  <a:pt x="433672" y="285978"/>
                </a:lnTo>
                <a:lnTo>
                  <a:pt x="433403" y="283447"/>
                </a:lnTo>
                <a:lnTo>
                  <a:pt x="432750" y="280996"/>
                </a:lnTo>
              </a:path>
              <a:path w="433704" h="387350">
                <a:moveTo>
                  <a:pt x="433326" y="280839"/>
                </a:moveTo>
                <a:lnTo>
                  <a:pt x="433326" y="29038"/>
                </a:lnTo>
              </a:path>
              <a:path w="433704" h="387350">
                <a:moveTo>
                  <a:pt x="433441" y="29038"/>
                </a:moveTo>
                <a:lnTo>
                  <a:pt x="405285" y="192"/>
                </a:lnTo>
                <a:lnTo>
                  <a:pt x="402672" y="153"/>
                </a:lnTo>
                <a:lnTo>
                  <a:pt x="400060" y="499"/>
                </a:lnTo>
                <a:lnTo>
                  <a:pt x="397564" y="1190"/>
                </a:lnTo>
              </a:path>
              <a:path w="433704" h="387350">
                <a:moveTo>
                  <a:pt x="397372" y="499"/>
                </a:moveTo>
                <a:lnTo>
                  <a:pt x="295079" y="422"/>
                </a:lnTo>
              </a:path>
              <a:path w="433704" h="387350">
                <a:moveTo>
                  <a:pt x="295056" y="0"/>
                </a:moveTo>
                <a:lnTo>
                  <a:pt x="272429" y="3676"/>
                </a:lnTo>
                <a:lnTo>
                  <a:pt x="251442" y="12185"/>
                </a:lnTo>
                <a:lnTo>
                  <a:pt x="232854" y="25116"/>
                </a:lnTo>
                <a:lnTo>
                  <a:pt x="217424" y="42059"/>
                </a:lnTo>
              </a:path>
              <a:path w="433704" h="387350">
                <a:moveTo>
                  <a:pt x="344704" y="165876"/>
                </a:moveTo>
                <a:lnTo>
                  <a:pt x="305973" y="204936"/>
                </a:lnTo>
              </a:path>
            </a:pathLst>
          </a:custGeom>
          <a:ln w="19192">
            <a:solidFill>
              <a:srgbClr val="E7BE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10394" y="4278563"/>
            <a:ext cx="170180" cy="70485"/>
          </a:xfrm>
          <a:custGeom>
            <a:avLst/>
            <a:gdLst/>
            <a:ahLst/>
            <a:cxnLst/>
            <a:rect l="l" t="t" r="r" b="b"/>
            <a:pathLst>
              <a:path w="170179" h="70485">
                <a:moveTo>
                  <a:pt x="139971" y="39144"/>
                </a:moveTo>
                <a:lnTo>
                  <a:pt x="140178" y="0"/>
                </a:lnTo>
              </a:path>
              <a:path w="170179" h="70485">
                <a:moveTo>
                  <a:pt x="147696" y="32153"/>
                </a:moveTo>
                <a:lnTo>
                  <a:pt x="106406" y="32069"/>
                </a:lnTo>
              </a:path>
              <a:path w="170179" h="70485">
                <a:moveTo>
                  <a:pt x="139971" y="39144"/>
                </a:moveTo>
                <a:lnTo>
                  <a:pt x="140067" y="63761"/>
                </a:lnTo>
              </a:path>
              <a:path w="170179" h="70485">
                <a:moveTo>
                  <a:pt x="147696" y="32153"/>
                </a:moveTo>
                <a:lnTo>
                  <a:pt x="170163" y="32161"/>
                </a:lnTo>
              </a:path>
              <a:path w="170179" h="70485">
                <a:moveTo>
                  <a:pt x="1125" y="2696"/>
                </a:moveTo>
                <a:lnTo>
                  <a:pt x="57830" y="67072"/>
                </a:lnTo>
              </a:path>
              <a:path w="170179" h="70485">
                <a:moveTo>
                  <a:pt x="0" y="69945"/>
                </a:moveTo>
                <a:lnTo>
                  <a:pt x="59662" y="2273"/>
                </a:lnTo>
              </a:path>
            </a:pathLst>
          </a:custGeom>
          <a:ln w="19192">
            <a:solidFill>
              <a:srgbClr val="E7BE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911085" y="4076827"/>
            <a:ext cx="4590415" cy="10185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b="1" spc="10" dirty="0">
                <a:solidFill>
                  <a:srgbClr val="2C2925"/>
                </a:solidFill>
                <a:latin typeface="Arial"/>
                <a:cs typeface="Arial"/>
              </a:rPr>
              <a:t>Mathematical</a:t>
            </a:r>
            <a:r>
              <a:rPr sz="1800" b="1" spc="265" dirty="0">
                <a:solidFill>
                  <a:srgbClr val="2C2925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2C2925"/>
                </a:solidFill>
                <a:latin typeface="Arial"/>
                <a:cs typeface="Arial"/>
              </a:rPr>
              <a:t>Logic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37900"/>
              </a:lnSpc>
              <a:spcBef>
                <a:spcPts val="819"/>
              </a:spcBef>
            </a:pP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Energy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calculations</a:t>
            </a:r>
            <a:r>
              <a:rPr sz="1450" spc="-4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and cost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estimations</a:t>
            </a:r>
            <a:r>
              <a:rPr sz="1450" spc="-3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based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on</a:t>
            </a:r>
            <a:r>
              <a:rPr sz="1450" spc="-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tariff rates</a:t>
            </a:r>
            <a:endParaRPr sz="1450">
              <a:latin typeface="Microsoft Sans Serif"/>
              <a:cs typeface="Microsoft Sans Serif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46C1C2-38FA-131D-171B-06EDF685ED45}"/>
              </a:ext>
            </a:extLst>
          </p:cNvPr>
          <p:cNvSpPr/>
          <p:nvPr/>
        </p:nvSpPr>
        <p:spPr>
          <a:xfrm>
            <a:off x="10439400" y="6400800"/>
            <a:ext cx="1752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9020" y="1152855"/>
            <a:ext cx="3884295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25" dirty="0"/>
              <a:t>Results</a:t>
            </a:r>
            <a:r>
              <a:rPr spc="-105" dirty="0"/>
              <a:t> </a:t>
            </a:r>
            <a:r>
              <a:rPr spc="340" dirty="0"/>
              <a:t>&amp;</a:t>
            </a:r>
            <a:r>
              <a:rPr spc="-80" dirty="0"/>
              <a:t> </a:t>
            </a:r>
            <a:r>
              <a:rPr spc="190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4280" y="2116073"/>
            <a:ext cx="3138805" cy="1997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4850" spc="155" dirty="0">
                <a:solidFill>
                  <a:srgbClr val="2C2925"/>
                </a:solidFill>
                <a:latin typeface="Arial MT"/>
                <a:cs typeface="Arial MT"/>
              </a:rPr>
              <a:t>156</a:t>
            </a:r>
            <a:endParaRPr sz="4850">
              <a:latin typeface="Arial MT"/>
              <a:cs typeface="Arial MT"/>
            </a:endParaRPr>
          </a:p>
          <a:p>
            <a:pPr marL="1270" algn="ctr">
              <a:lnSpc>
                <a:spcPct val="100000"/>
              </a:lnSpc>
              <a:spcBef>
                <a:spcPts val="1900"/>
              </a:spcBef>
            </a:pPr>
            <a:r>
              <a:rPr sz="1800" spc="85" dirty="0">
                <a:solidFill>
                  <a:srgbClr val="2C2925"/>
                </a:solidFill>
                <a:latin typeface="Arial MT"/>
                <a:cs typeface="Arial MT"/>
              </a:rPr>
              <a:t>kWh</a:t>
            </a:r>
            <a:r>
              <a:rPr sz="1800" spc="-4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2C2925"/>
                </a:solidFill>
                <a:latin typeface="Arial MT"/>
                <a:cs typeface="Arial MT"/>
              </a:rPr>
              <a:t>Consumed</a:t>
            </a:r>
            <a:endParaRPr sz="1800">
              <a:latin typeface="Arial MT"/>
              <a:cs typeface="Arial MT"/>
            </a:endParaRPr>
          </a:p>
          <a:p>
            <a:pPr marL="12700" marR="5080" algn="ctr">
              <a:lnSpc>
                <a:spcPct val="137900"/>
              </a:lnSpc>
              <a:spcBef>
                <a:spcPts val="825"/>
              </a:spcBef>
            </a:pP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Total</a:t>
            </a:r>
            <a:r>
              <a:rPr sz="1450" spc="-4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monthly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energy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usage</a:t>
            </a:r>
            <a:r>
              <a:rPr sz="1450" spc="-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across</a:t>
            </a:r>
            <a:r>
              <a:rPr sz="1450" spc="-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all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appliances</a:t>
            </a:r>
            <a:endParaRPr sz="14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0434" y="2113026"/>
            <a:ext cx="2689225" cy="16960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20"/>
              </a:spcBef>
            </a:pPr>
            <a:r>
              <a:rPr sz="4850" spc="125" dirty="0">
                <a:solidFill>
                  <a:srgbClr val="2C2925"/>
                </a:solidFill>
                <a:latin typeface="Microsoft Sans Serif"/>
                <a:cs typeface="Microsoft Sans Serif"/>
              </a:rPr>
              <a:t>₹</a:t>
            </a:r>
            <a:r>
              <a:rPr sz="4850" spc="125" dirty="0">
                <a:solidFill>
                  <a:srgbClr val="2C2925"/>
                </a:solidFill>
                <a:latin typeface="Arial MT"/>
                <a:cs typeface="Arial MT"/>
              </a:rPr>
              <a:t>1,872</a:t>
            </a:r>
            <a:endParaRPr sz="4850">
              <a:latin typeface="Arial MT"/>
              <a:cs typeface="Arial MT"/>
            </a:endParaRPr>
          </a:p>
          <a:p>
            <a:pPr marL="3810" algn="ctr">
              <a:lnSpc>
                <a:spcPct val="100000"/>
              </a:lnSpc>
              <a:spcBef>
                <a:spcPts val="1925"/>
              </a:spcBef>
            </a:pPr>
            <a:r>
              <a:rPr sz="1800" spc="95" dirty="0">
                <a:solidFill>
                  <a:srgbClr val="2C2925"/>
                </a:solidFill>
                <a:latin typeface="Arial MT"/>
                <a:cs typeface="Arial MT"/>
              </a:rPr>
              <a:t>Estimated</a:t>
            </a:r>
            <a:r>
              <a:rPr sz="1800" spc="-2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2C2925"/>
                </a:solidFill>
                <a:latin typeface="Arial MT"/>
                <a:cs typeface="Arial MT"/>
              </a:rPr>
              <a:t>Cost</a:t>
            </a:r>
            <a:endParaRPr sz="1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480"/>
              </a:spcBef>
            </a:pP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Based</a:t>
            </a:r>
            <a:r>
              <a:rPr sz="1450" spc="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on</a:t>
            </a:r>
            <a:r>
              <a:rPr sz="1450" spc="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₹12</a:t>
            </a:r>
            <a:r>
              <a:rPr sz="1450" spc="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per</a:t>
            </a:r>
            <a:r>
              <a:rPr sz="1450" spc="2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kWh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tariff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rate</a:t>
            </a:r>
            <a:endParaRPr sz="14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2385" y="2116073"/>
            <a:ext cx="2749550" cy="1997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20"/>
              </a:spcBef>
            </a:pPr>
            <a:r>
              <a:rPr sz="4850" spc="135" dirty="0">
                <a:solidFill>
                  <a:srgbClr val="2C2925"/>
                </a:solidFill>
                <a:latin typeface="Arial MT"/>
                <a:cs typeface="Arial MT"/>
              </a:rPr>
              <a:t>3</a:t>
            </a:r>
            <a:endParaRPr sz="4850">
              <a:latin typeface="Arial MT"/>
              <a:cs typeface="Arial MT"/>
            </a:endParaRPr>
          </a:p>
          <a:p>
            <a:pPr marL="3810" algn="ctr">
              <a:lnSpc>
                <a:spcPct val="100000"/>
              </a:lnSpc>
              <a:spcBef>
                <a:spcPts val="1900"/>
              </a:spcBef>
            </a:pPr>
            <a:r>
              <a:rPr sz="1800" spc="80" dirty="0">
                <a:solidFill>
                  <a:srgbClr val="2C2925"/>
                </a:solidFill>
                <a:latin typeface="Arial MT"/>
                <a:cs typeface="Arial MT"/>
              </a:rPr>
              <a:t>High-Usage</a:t>
            </a:r>
            <a:r>
              <a:rPr sz="1800" spc="-15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2C2925"/>
                </a:solidFill>
                <a:latin typeface="Arial MT"/>
                <a:cs typeface="Arial MT"/>
              </a:rPr>
              <a:t>Appliances</a:t>
            </a:r>
            <a:endParaRPr sz="1800">
              <a:latin typeface="Arial MT"/>
              <a:cs typeface="Arial MT"/>
            </a:endParaRPr>
          </a:p>
          <a:p>
            <a:pPr marL="12700" marR="5080" algn="ctr">
              <a:lnSpc>
                <a:spcPct val="137900"/>
              </a:lnSpc>
              <a:spcBef>
                <a:spcPts val="825"/>
              </a:spcBef>
            </a:pP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Air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conditioner,</a:t>
            </a:r>
            <a:r>
              <a:rPr sz="1450" spc="-3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water</a:t>
            </a:r>
            <a:r>
              <a:rPr sz="1450" spc="-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heater,</a:t>
            </a:r>
            <a:r>
              <a:rPr sz="1450" spc="-4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and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refrigerator</a:t>
            </a:r>
            <a:r>
              <a:rPr sz="14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identified</a:t>
            </a:r>
            <a:endParaRPr sz="14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9020" y="4392295"/>
            <a:ext cx="3262629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80" dirty="0">
                <a:solidFill>
                  <a:srgbClr val="2C2925"/>
                </a:solidFill>
                <a:latin typeface="Arial MT"/>
                <a:cs typeface="Arial MT"/>
              </a:rPr>
              <a:t>Sample</a:t>
            </a:r>
            <a:r>
              <a:rPr sz="2200" spc="-5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2200" spc="120" dirty="0">
                <a:solidFill>
                  <a:srgbClr val="2C2925"/>
                </a:solidFill>
                <a:latin typeface="Arial MT"/>
                <a:cs typeface="Arial MT"/>
              </a:rPr>
              <a:t>Output</a:t>
            </a:r>
            <a:r>
              <a:rPr sz="2200" spc="-45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2200" spc="85" dirty="0">
                <a:solidFill>
                  <a:srgbClr val="2C2925"/>
                </a:solidFill>
                <a:latin typeface="Arial MT"/>
                <a:cs typeface="Arial MT"/>
              </a:rPr>
              <a:t>Analysis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9020" y="5004917"/>
            <a:ext cx="10893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7900"/>
              </a:lnSpc>
              <a:spcBef>
                <a:spcPts val="95"/>
              </a:spcBef>
            </a:pP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The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system</a:t>
            </a:r>
            <a:r>
              <a:rPr sz="14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processes</a:t>
            </a:r>
            <a:r>
              <a:rPr sz="1450" spc="-4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appliance</a:t>
            </a:r>
            <a:r>
              <a:rPr sz="14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data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and</a:t>
            </a:r>
            <a:r>
              <a:rPr sz="1450" spc="-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generates</a:t>
            </a:r>
            <a:r>
              <a:rPr sz="1450" spc="-4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comprehensive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reports</a:t>
            </a:r>
            <a:r>
              <a:rPr sz="1450" spc="-4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showing</a:t>
            </a:r>
            <a:r>
              <a:rPr sz="1450" spc="-2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consumption</a:t>
            </a:r>
            <a:r>
              <a:rPr sz="1450" spc="-4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patterns.</a:t>
            </a:r>
            <a:r>
              <a:rPr sz="1450" spc="-5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High-usage</a:t>
            </a:r>
            <a:r>
              <a:rPr sz="1450" spc="-4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devices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25" dirty="0">
                <a:solidFill>
                  <a:srgbClr val="2C2925"/>
                </a:solidFill>
                <a:latin typeface="Microsoft Sans Serif"/>
                <a:cs typeface="Microsoft Sans Serif"/>
              </a:rPr>
              <a:t>are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highlighted,</a:t>
            </a:r>
            <a:r>
              <a:rPr sz="1450" spc="-4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and</a:t>
            </a:r>
            <a:r>
              <a:rPr sz="1450" spc="-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reduction</a:t>
            </a:r>
            <a:r>
              <a:rPr sz="1450" spc="-4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strategies</a:t>
            </a:r>
            <a:r>
              <a:rPr sz="1450" spc="-5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are</a:t>
            </a:r>
            <a:r>
              <a:rPr sz="1450" spc="-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suggested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based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on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usage</a:t>
            </a:r>
            <a:r>
              <a:rPr sz="1450" spc="-3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patterns</a:t>
            </a:r>
            <a:r>
              <a:rPr sz="1450" spc="-4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and</a:t>
            </a:r>
            <a:r>
              <a:rPr sz="1450" spc="-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2C2925"/>
                </a:solidFill>
                <a:latin typeface="Microsoft Sans Serif"/>
                <a:cs typeface="Microsoft Sans Serif"/>
              </a:rPr>
              <a:t>power</a:t>
            </a:r>
            <a:r>
              <a:rPr sz="1450" spc="-1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45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ratings.</a:t>
            </a:r>
            <a:endParaRPr sz="1450">
              <a:latin typeface="Microsoft Sans Serif"/>
              <a:cs typeface="Microsoft Sans Serif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59013E-3C48-5E98-243D-AD2074E028DD}"/>
              </a:ext>
            </a:extLst>
          </p:cNvPr>
          <p:cNvSpPr/>
          <p:nvPr/>
        </p:nvSpPr>
        <p:spPr>
          <a:xfrm>
            <a:off x="10439400" y="6400800"/>
            <a:ext cx="1752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0685" y="829513"/>
            <a:ext cx="619887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95" dirty="0"/>
              <a:t>Advantages,</a:t>
            </a:r>
            <a:r>
              <a:rPr sz="2500" spc="-50" dirty="0"/>
              <a:t> </a:t>
            </a:r>
            <a:r>
              <a:rPr sz="2500" spc="114" dirty="0"/>
              <a:t>Conclusion</a:t>
            </a:r>
            <a:r>
              <a:rPr sz="2500" spc="-55" dirty="0"/>
              <a:t> </a:t>
            </a:r>
            <a:r>
              <a:rPr sz="2500" spc="229" dirty="0"/>
              <a:t>&amp;</a:t>
            </a:r>
            <a:r>
              <a:rPr sz="2500" spc="-55" dirty="0"/>
              <a:t> </a:t>
            </a:r>
            <a:r>
              <a:rPr sz="2500" spc="110" dirty="0"/>
              <a:t>Future</a:t>
            </a:r>
            <a:r>
              <a:rPr sz="2500" spc="-45" dirty="0"/>
              <a:t> </a:t>
            </a:r>
            <a:r>
              <a:rPr sz="2500" spc="95" dirty="0"/>
              <a:t>Scope</a:t>
            </a:r>
            <a:endParaRPr sz="2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3004" y="1735438"/>
            <a:ext cx="63897" cy="3440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3004" y="2331703"/>
            <a:ext cx="63897" cy="3433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3004" y="2927841"/>
            <a:ext cx="63897" cy="3440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3004" y="3524106"/>
            <a:ext cx="63897" cy="3440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3004" y="4120245"/>
            <a:ext cx="63897" cy="3440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670685" y="1203527"/>
            <a:ext cx="4154804" cy="3653154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650" spc="55" dirty="0">
                <a:solidFill>
                  <a:srgbClr val="2C2925"/>
                </a:solidFill>
                <a:latin typeface="Arial MT"/>
                <a:cs typeface="Arial MT"/>
              </a:rPr>
              <a:t>Key</a:t>
            </a:r>
            <a:r>
              <a:rPr sz="1650" spc="-5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650" spc="70" dirty="0">
                <a:solidFill>
                  <a:srgbClr val="2C2925"/>
                </a:solidFill>
                <a:latin typeface="Arial MT"/>
                <a:cs typeface="Arial MT"/>
              </a:rPr>
              <a:t>Advantages</a:t>
            </a:r>
            <a:endParaRPr sz="1650">
              <a:latin typeface="Arial MT"/>
              <a:cs typeface="Arial MT"/>
            </a:endParaRPr>
          </a:p>
          <a:p>
            <a:pPr marL="162560">
              <a:lnSpc>
                <a:spcPct val="100000"/>
              </a:lnSpc>
              <a:spcBef>
                <a:spcPts val="535"/>
              </a:spcBef>
            </a:pPr>
            <a:r>
              <a:rPr sz="1650" spc="55" dirty="0">
                <a:solidFill>
                  <a:srgbClr val="2C2925"/>
                </a:solidFill>
                <a:latin typeface="Arial MT"/>
                <a:cs typeface="Arial MT"/>
              </a:rPr>
              <a:t>Easy</a:t>
            </a:r>
            <a:r>
              <a:rPr sz="1650" spc="-7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650" spc="75" dirty="0">
                <a:solidFill>
                  <a:srgbClr val="2C2925"/>
                </a:solidFill>
                <a:latin typeface="Arial MT"/>
                <a:cs typeface="Arial MT"/>
              </a:rPr>
              <a:t>Implementation</a:t>
            </a:r>
            <a:endParaRPr sz="1650">
              <a:latin typeface="Arial MT"/>
              <a:cs typeface="Arial MT"/>
            </a:endParaRPr>
          </a:p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Simple</a:t>
            </a:r>
            <a:r>
              <a:rPr sz="1300" spc="7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file-based</a:t>
            </a:r>
            <a:r>
              <a:rPr sz="1300" spc="3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input</a:t>
            </a:r>
            <a:r>
              <a:rPr sz="1300" spc="6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requires</a:t>
            </a:r>
            <a:r>
              <a:rPr sz="1300" spc="7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minimal</a:t>
            </a:r>
            <a:r>
              <a:rPr sz="1300" spc="8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setup</a:t>
            </a:r>
            <a:endParaRPr sz="1300">
              <a:latin typeface="Microsoft Sans Serif"/>
              <a:cs typeface="Microsoft Sans Serif"/>
            </a:endParaRPr>
          </a:p>
          <a:p>
            <a:pPr marL="162560">
              <a:lnSpc>
                <a:spcPct val="100000"/>
              </a:lnSpc>
              <a:spcBef>
                <a:spcPts val="440"/>
              </a:spcBef>
            </a:pPr>
            <a:r>
              <a:rPr sz="1650" spc="65" dirty="0">
                <a:solidFill>
                  <a:srgbClr val="2C2925"/>
                </a:solidFill>
                <a:latin typeface="Arial MT"/>
                <a:cs typeface="Arial MT"/>
              </a:rPr>
              <a:t>Cost-</a:t>
            </a:r>
            <a:r>
              <a:rPr sz="1650" spc="75" dirty="0">
                <a:solidFill>
                  <a:srgbClr val="2C2925"/>
                </a:solidFill>
                <a:latin typeface="Arial MT"/>
                <a:cs typeface="Arial MT"/>
              </a:rPr>
              <a:t>Effective</a:t>
            </a:r>
            <a:endParaRPr sz="1650">
              <a:latin typeface="Arial MT"/>
              <a:cs typeface="Arial MT"/>
            </a:endParaRPr>
          </a:p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No</a:t>
            </a:r>
            <a:r>
              <a:rPr sz="1300" spc="7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additional</a:t>
            </a:r>
            <a:r>
              <a:rPr sz="1300" spc="4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hardware</a:t>
            </a:r>
            <a:r>
              <a:rPr sz="1300" spc="9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needed</a:t>
            </a:r>
            <a:r>
              <a:rPr sz="1300" spc="4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for</a:t>
            </a:r>
            <a:r>
              <a:rPr sz="1300" spc="8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basic</a:t>
            </a:r>
            <a:r>
              <a:rPr sz="1300" spc="6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functionality</a:t>
            </a:r>
            <a:endParaRPr sz="1300">
              <a:latin typeface="Microsoft Sans Serif"/>
              <a:cs typeface="Microsoft Sans Serif"/>
            </a:endParaRPr>
          </a:p>
          <a:p>
            <a:pPr marL="162560">
              <a:lnSpc>
                <a:spcPct val="100000"/>
              </a:lnSpc>
              <a:spcBef>
                <a:spcPts val="440"/>
              </a:spcBef>
            </a:pPr>
            <a:r>
              <a:rPr sz="1650" spc="85" dirty="0">
                <a:solidFill>
                  <a:srgbClr val="2C2925"/>
                </a:solidFill>
                <a:latin typeface="Arial MT"/>
                <a:cs typeface="Arial MT"/>
              </a:rPr>
              <a:t>Energy</a:t>
            </a:r>
            <a:r>
              <a:rPr sz="1650" spc="-7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650" spc="60" dirty="0">
                <a:solidFill>
                  <a:srgbClr val="2C2925"/>
                </a:solidFill>
                <a:latin typeface="Arial MT"/>
                <a:cs typeface="Arial MT"/>
              </a:rPr>
              <a:t>Savings</a:t>
            </a:r>
            <a:endParaRPr sz="1650">
              <a:latin typeface="Arial MT"/>
              <a:cs typeface="Arial MT"/>
            </a:endParaRPr>
          </a:p>
          <a:p>
            <a:pPr marL="162560">
              <a:lnSpc>
                <a:spcPct val="100000"/>
              </a:lnSpc>
              <a:spcBef>
                <a:spcPts val="720"/>
              </a:spcBef>
            </a:pP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Identifies</a:t>
            </a:r>
            <a:r>
              <a:rPr sz="1300" spc="8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wastage</a:t>
            </a:r>
            <a:r>
              <a:rPr sz="1300" spc="9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and</a:t>
            </a:r>
            <a:r>
              <a:rPr sz="1300" spc="8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suggests</a:t>
            </a:r>
            <a:r>
              <a:rPr sz="1300" spc="5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optimization</a:t>
            </a:r>
            <a:endParaRPr sz="1300">
              <a:latin typeface="Microsoft Sans Serif"/>
              <a:cs typeface="Microsoft Sans Serif"/>
            </a:endParaRPr>
          </a:p>
          <a:p>
            <a:pPr marL="162560">
              <a:lnSpc>
                <a:spcPct val="100000"/>
              </a:lnSpc>
              <a:spcBef>
                <a:spcPts val="434"/>
              </a:spcBef>
            </a:pPr>
            <a:r>
              <a:rPr sz="1650" spc="80" dirty="0">
                <a:solidFill>
                  <a:srgbClr val="2C2925"/>
                </a:solidFill>
                <a:latin typeface="Arial MT"/>
                <a:cs typeface="Arial MT"/>
              </a:rPr>
              <a:t>Financial</a:t>
            </a:r>
            <a:r>
              <a:rPr sz="1650" spc="-6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650" spc="75" dirty="0">
                <a:solidFill>
                  <a:srgbClr val="2C2925"/>
                </a:solidFill>
                <a:latin typeface="Arial MT"/>
                <a:cs typeface="Arial MT"/>
              </a:rPr>
              <a:t>Benefits</a:t>
            </a:r>
            <a:endParaRPr sz="1650">
              <a:latin typeface="Arial MT"/>
              <a:cs typeface="Arial MT"/>
            </a:endParaRPr>
          </a:p>
          <a:p>
            <a:pPr marL="162560">
              <a:lnSpc>
                <a:spcPct val="100000"/>
              </a:lnSpc>
              <a:spcBef>
                <a:spcPts val="720"/>
              </a:spcBef>
            </a:pP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Reduces</a:t>
            </a:r>
            <a:r>
              <a:rPr sz="1300" spc="8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electricity</a:t>
            </a:r>
            <a:r>
              <a:rPr sz="1300" spc="4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bills</a:t>
            </a:r>
            <a:r>
              <a:rPr sz="1300" spc="7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through</a:t>
            </a:r>
            <a:r>
              <a:rPr sz="1300" spc="7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informed</a:t>
            </a:r>
            <a:r>
              <a:rPr sz="1300" spc="7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usage</a:t>
            </a:r>
            <a:endParaRPr sz="1300">
              <a:latin typeface="Microsoft Sans Serif"/>
              <a:cs typeface="Microsoft Sans Serif"/>
            </a:endParaRPr>
          </a:p>
          <a:p>
            <a:pPr marL="162560">
              <a:lnSpc>
                <a:spcPct val="100000"/>
              </a:lnSpc>
              <a:spcBef>
                <a:spcPts val="434"/>
              </a:spcBef>
            </a:pPr>
            <a:r>
              <a:rPr sz="1650" spc="85" dirty="0">
                <a:solidFill>
                  <a:srgbClr val="2C2925"/>
                </a:solidFill>
                <a:latin typeface="Arial MT"/>
                <a:cs typeface="Arial MT"/>
              </a:rPr>
              <a:t>Improved</a:t>
            </a:r>
            <a:r>
              <a:rPr sz="1650" spc="-5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650" spc="80" dirty="0">
                <a:solidFill>
                  <a:srgbClr val="2C2925"/>
                </a:solidFill>
                <a:latin typeface="Arial MT"/>
                <a:cs typeface="Arial MT"/>
              </a:rPr>
              <a:t>Awareness</a:t>
            </a:r>
            <a:endParaRPr sz="1650">
              <a:latin typeface="Arial MT"/>
              <a:cs typeface="Arial MT"/>
            </a:endParaRPr>
          </a:p>
          <a:p>
            <a:pPr marL="162560">
              <a:lnSpc>
                <a:spcPct val="100000"/>
              </a:lnSpc>
              <a:spcBef>
                <a:spcPts val="720"/>
              </a:spcBef>
            </a:pP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Provides</a:t>
            </a:r>
            <a:r>
              <a:rPr sz="1300" spc="6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clear</a:t>
            </a:r>
            <a:r>
              <a:rPr sz="1300" spc="7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visibility</a:t>
            </a:r>
            <a:r>
              <a:rPr sz="1300" spc="8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into</a:t>
            </a:r>
            <a:r>
              <a:rPr sz="1300" spc="7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consumption</a:t>
            </a:r>
            <a:r>
              <a:rPr sz="1300" spc="5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patterns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650" spc="80" dirty="0">
                <a:solidFill>
                  <a:srgbClr val="2C2925"/>
                </a:solidFill>
                <a:latin typeface="Arial MT"/>
                <a:cs typeface="Arial MT"/>
              </a:rPr>
              <a:t>Future</a:t>
            </a:r>
            <a:r>
              <a:rPr sz="1650" spc="-3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650" spc="75" dirty="0">
                <a:solidFill>
                  <a:srgbClr val="2C2925"/>
                </a:solidFill>
                <a:latin typeface="Arial MT"/>
                <a:cs typeface="Arial MT"/>
              </a:rPr>
              <a:t>Enhancements</a:t>
            </a:r>
            <a:endParaRPr sz="165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3004" y="5042772"/>
            <a:ext cx="63897" cy="3440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20926" y="4787736"/>
            <a:ext cx="3310254" cy="127381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1650" dirty="0">
                <a:solidFill>
                  <a:srgbClr val="2C2925"/>
                </a:solidFill>
                <a:latin typeface="Arial MT"/>
                <a:cs typeface="Arial MT"/>
              </a:rPr>
              <a:t>Real-</a:t>
            </a:r>
            <a:r>
              <a:rPr sz="1650" spc="55" dirty="0">
                <a:solidFill>
                  <a:srgbClr val="2C2925"/>
                </a:solidFill>
                <a:latin typeface="Arial MT"/>
                <a:cs typeface="Arial MT"/>
              </a:rPr>
              <a:t>Time</a:t>
            </a:r>
            <a:r>
              <a:rPr sz="1650" spc="2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650" spc="55" dirty="0">
                <a:solidFill>
                  <a:srgbClr val="2C2925"/>
                </a:solidFill>
                <a:latin typeface="Arial MT"/>
                <a:cs typeface="Arial MT"/>
              </a:rPr>
              <a:t>IoT</a:t>
            </a:r>
            <a:r>
              <a:rPr sz="1650" spc="7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650" spc="80" dirty="0">
                <a:solidFill>
                  <a:srgbClr val="2C2925"/>
                </a:solidFill>
                <a:latin typeface="Arial MT"/>
                <a:cs typeface="Arial MT"/>
              </a:rPr>
              <a:t>Integration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Connect</a:t>
            </a:r>
            <a:r>
              <a:rPr sz="1300" spc="4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with</a:t>
            </a:r>
            <a:r>
              <a:rPr sz="1300" spc="8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smart</a:t>
            </a:r>
            <a:r>
              <a:rPr sz="1300" spc="6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plugs</a:t>
            </a:r>
            <a:r>
              <a:rPr sz="1300" spc="4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for</a:t>
            </a:r>
            <a:r>
              <a:rPr sz="1300" spc="7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live</a:t>
            </a:r>
            <a:r>
              <a:rPr sz="1300" spc="6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monitoring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650" spc="85" dirty="0">
                <a:solidFill>
                  <a:srgbClr val="2C2925"/>
                </a:solidFill>
                <a:latin typeface="Arial MT"/>
                <a:cs typeface="Arial MT"/>
              </a:rPr>
              <a:t>Cloud</a:t>
            </a:r>
            <a:r>
              <a:rPr sz="1650" spc="-5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650" spc="70" dirty="0">
                <a:solidFill>
                  <a:srgbClr val="2C2925"/>
                </a:solidFill>
                <a:latin typeface="Arial MT"/>
                <a:cs typeface="Arial MT"/>
              </a:rPr>
              <a:t>Storage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Store</a:t>
            </a:r>
            <a:r>
              <a:rPr sz="1300" spc="6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historical</a:t>
            </a:r>
            <a:r>
              <a:rPr sz="1300" spc="5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data</a:t>
            </a:r>
            <a:r>
              <a:rPr sz="1300" spc="5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for</a:t>
            </a:r>
            <a:r>
              <a:rPr sz="1300" spc="7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trend</a:t>
            </a:r>
            <a:r>
              <a:rPr sz="1300" spc="6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analysis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49975" y="5042772"/>
            <a:ext cx="63896" cy="3440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288404" y="4787736"/>
            <a:ext cx="3860165" cy="127381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1650" spc="80" dirty="0">
                <a:solidFill>
                  <a:srgbClr val="2C2925"/>
                </a:solidFill>
                <a:latin typeface="Arial MT"/>
                <a:cs typeface="Arial MT"/>
              </a:rPr>
              <a:t>Mobile</a:t>
            </a:r>
            <a:r>
              <a:rPr sz="1650" spc="-65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650" spc="90" dirty="0">
                <a:solidFill>
                  <a:srgbClr val="2C2925"/>
                </a:solidFill>
                <a:latin typeface="Arial MT"/>
                <a:cs typeface="Arial MT"/>
              </a:rPr>
              <a:t>Application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Remote</a:t>
            </a:r>
            <a:r>
              <a:rPr sz="1300" spc="8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access</a:t>
            </a:r>
            <a:r>
              <a:rPr sz="1300" spc="5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and</a:t>
            </a:r>
            <a:r>
              <a:rPr sz="1300" spc="7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notifications</a:t>
            </a:r>
            <a:r>
              <a:rPr sz="1300" spc="5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on</a:t>
            </a:r>
            <a:r>
              <a:rPr sz="1300" spc="8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mobile</a:t>
            </a:r>
            <a:r>
              <a:rPr sz="1300" spc="9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devices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650" spc="50" dirty="0">
                <a:solidFill>
                  <a:srgbClr val="2C2925"/>
                </a:solidFill>
                <a:latin typeface="Arial MT"/>
                <a:cs typeface="Arial MT"/>
              </a:rPr>
              <a:t>AI-</a:t>
            </a:r>
            <a:r>
              <a:rPr sz="1650" spc="80" dirty="0">
                <a:solidFill>
                  <a:srgbClr val="2C2925"/>
                </a:solidFill>
                <a:latin typeface="Arial MT"/>
                <a:cs typeface="Arial MT"/>
              </a:rPr>
              <a:t>Powered</a:t>
            </a:r>
            <a:r>
              <a:rPr sz="1650" spc="-70" dirty="0">
                <a:solidFill>
                  <a:srgbClr val="2C2925"/>
                </a:solidFill>
                <a:latin typeface="Arial MT"/>
                <a:cs typeface="Arial MT"/>
              </a:rPr>
              <a:t> </a:t>
            </a:r>
            <a:r>
              <a:rPr sz="1650" spc="80" dirty="0">
                <a:solidFill>
                  <a:srgbClr val="2C2925"/>
                </a:solidFill>
                <a:latin typeface="Arial MT"/>
                <a:cs typeface="Arial MT"/>
              </a:rPr>
              <a:t>Insights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Machine</a:t>
            </a:r>
            <a:r>
              <a:rPr sz="1300" spc="6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learning</a:t>
            </a:r>
            <a:r>
              <a:rPr sz="1300" spc="5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for</a:t>
            </a:r>
            <a:r>
              <a:rPr sz="1300" spc="90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C2925"/>
                </a:solidFill>
                <a:latin typeface="Microsoft Sans Serif"/>
                <a:cs typeface="Microsoft Sans Serif"/>
              </a:rPr>
              <a:t>predictive</a:t>
            </a:r>
            <a:r>
              <a:rPr sz="1300" spc="55" dirty="0">
                <a:solidFill>
                  <a:srgbClr val="2C2925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C2925"/>
                </a:solidFill>
                <a:latin typeface="Microsoft Sans Serif"/>
                <a:cs typeface="Microsoft Sans Serif"/>
              </a:rPr>
              <a:t>recommendations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3004" y="5638999"/>
            <a:ext cx="63897" cy="3440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49975" y="5638999"/>
            <a:ext cx="63896" cy="3440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8394569-3CE0-40D8-AA1B-5F800E88E867}"/>
              </a:ext>
            </a:extLst>
          </p:cNvPr>
          <p:cNvSpPr/>
          <p:nvPr/>
        </p:nvSpPr>
        <p:spPr>
          <a:xfrm>
            <a:off x="10439400" y="6400800"/>
            <a:ext cx="1752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618</Words>
  <Application>Microsoft Office PowerPoint</Application>
  <PresentationFormat>Widescreen</PresentationFormat>
  <Paragraphs>122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 MT</vt:lpstr>
      <vt:lpstr>Aptos</vt:lpstr>
      <vt:lpstr>Arial</vt:lpstr>
      <vt:lpstr>Arial Black</vt:lpstr>
      <vt:lpstr>Calibri</vt:lpstr>
      <vt:lpstr>Microsoft Sans Serif</vt:lpstr>
      <vt:lpstr>Office Theme</vt:lpstr>
      <vt:lpstr>PowerPoint Presentation</vt:lpstr>
      <vt:lpstr>PowerPoint Presentation</vt:lpstr>
      <vt:lpstr>PowerPoint Presentation</vt:lpstr>
      <vt:lpstr>Smart Home Energy Monitor</vt:lpstr>
      <vt:lpstr>What is a Smart Home Energy Monitor?</vt:lpstr>
      <vt:lpstr>Why Energy Monitoring Matters</vt:lpstr>
      <vt:lpstr>Project Overview</vt:lpstr>
      <vt:lpstr>Project Objectives</vt:lpstr>
      <vt:lpstr>Problem Statement</vt:lpstr>
      <vt:lpstr>Methodology &amp; Working</vt:lpstr>
      <vt:lpstr>Technologies Used</vt:lpstr>
      <vt:lpstr>Results &amp; Output</vt:lpstr>
      <vt:lpstr>Advantages, Conclusion &amp; 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JAYAVARDHAN PARNA</dc:creator>
  <cp:lastModifiedBy>JAYAVARDHAN PARNA</cp:lastModifiedBy>
  <cp:revision>4</cp:revision>
  <dcterms:created xsi:type="dcterms:W3CDTF">2026-04-01T15:04:12Z</dcterms:created>
  <dcterms:modified xsi:type="dcterms:W3CDTF">2026-04-01T15:46:36Z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2026-04-01T00:00:00Z</vt:filetime>
  </property>
  <property fmtid="{D5CDD505-2E9C-101B-9397-08002B2CF9AE}" pid="3" name="Creator">
    <vt:lpwstr>Microsoft® PowerPoint® 2024</vt:lpwstr>
  </property>
  <property fmtid="{D5CDD505-2E9C-101B-9397-08002B2CF9AE}" pid="4" name="LastSaved">
    <vt:filetime>2026-04-01T00:00:00Z</vt:filetime>
  </property>
  <property fmtid="{D5CDD505-2E9C-101B-9397-08002B2CF9AE}" pid="5" name="Producer">
    <vt:lpwstr>Microsoft® PowerPoint® 2024</vt:lpwstr>
  </property>
</Properties>
</file>